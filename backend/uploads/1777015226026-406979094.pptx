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379C8-0580-8054-6353-650284F615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DEA5276-FC0D-ADF3-664B-1CB210FEAD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BCC628-7FBB-A15A-2586-68D7ADF18D62}"/>
              </a:ext>
            </a:extLst>
          </p:cNvPr>
          <p:cNvSpPr>
            <a:spLocks noGrp="1"/>
          </p:cNvSpPr>
          <p:nvPr>
            <p:ph type="dt" sz="half" idx="10"/>
          </p:nvPr>
        </p:nvSpPr>
        <p:spPr/>
        <p:txBody>
          <a:bodyPr/>
          <a:lstStyle/>
          <a:p>
            <a:fld id="{A6C80E43-D91D-4998-97C7-5AF9C6543139}" type="datetimeFigureOut">
              <a:rPr lang="en-US" smtClean="0"/>
              <a:t>4/22/2026</a:t>
            </a:fld>
            <a:endParaRPr lang="en-US"/>
          </a:p>
        </p:txBody>
      </p:sp>
      <p:sp>
        <p:nvSpPr>
          <p:cNvPr id="5" name="Footer Placeholder 4">
            <a:extLst>
              <a:ext uri="{FF2B5EF4-FFF2-40B4-BE49-F238E27FC236}">
                <a16:creationId xmlns:a16="http://schemas.microsoft.com/office/drawing/2014/main" id="{C9BCA533-B3C3-D8AA-234D-C67BF3DEF7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76E522-5A56-9BDB-F728-D3AB1E9B6066}"/>
              </a:ext>
            </a:extLst>
          </p:cNvPr>
          <p:cNvSpPr>
            <a:spLocks noGrp="1"/>
          </p:cNvSpPr>
          <p:nvPr>
            <p:ph type="sldNum" sz="quarter" idx="12"/>
          </p:nvPr>
        </p:nvSpPr>
        <p:spPr/>
        <p:txBody>
          <a:bodyPr/>
          <a:lstStyle/>
          <a:p>
            <a:fld id="{884BAD8C-CA57-40B9-AE81-6F96CAE36773}" type="slidenum">
              <a:rPr lang="en-US" smtClean="0"/>
              <a:t>‹#›</a:t>
            </a:fld>
            <a:endParaRPr lang="en-US"/>
          </a:p>
        </p:txBody>
      </p:sp>
    </p:spTree>
    <p:extLst>
      <p:ext uri="{BB962C8B-B14F-4D97-AF65-F5344CB8AC3E}">
        <p14:creationId xmlns:p14="http://schemas.microsoft.com/office/powerpoint/2010/main" val="2365690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5AE00-C7E7-B403-A569-D0DC081264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21CE62-FCAA-F44F-150E-367A3C7275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90CA43-A9D1-E93A-E745-BB7890DCDD8C}"/>
              </a:ext>
            </a:extLst>
          </p:cNvPr>
          <p:cNvSpPr>
            <a:spLocks noGrp="1"/>
          </p:cNvSpPr>
          <p:nvPr>
            <p:ph type="dt" sz="half" idx="10"/>
          </p:nvPr>
        </p:nvSpPr>
        <p:spPr/>
        <p:txBody>
          <a:bodyPr/>
          <a:lstStyle/>
          <a:p>
            <a:fld id="{A6C80E43-D91D-4998-97C7-5AF9C6543139}" type="datetimeFigureOut">
              <a:rPr lang="en-US" smtClean="0"/>
              <a:t>4/22/2026</a:t>
            </a:fld>
            <a:endParaRPr lang="en-US"/>
          </a:p>
        </p:txBody>
      </p:sp>
      <p:sp>
        <p:nvSpPr>
          <p:cNvPr id="5" name="Footer Placeholder 4">
            <a:extLst>
              <a:ext uri="{FF2B5EF4-FFF2-40B4-BE49-F238E27FC236}">
                <a16:creationId xmlns:a16="http://schemas.microsoft.com/office/drawing/2014/main" id="{6E43AFDD-1CD7-FF74-8FA5-B3BD1B2EAD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5403C4-6126-E7AB-5B51-F8296169AA77}"/>
              </a:ext>
            </a:extLst>
          </p:cNvPr>
          <p:cNvSpPr>
            <a:spLocks noGrp="1"/>
          </p:cNvSpPr>
          <p:nvPr>
            <p:ph type="sldNum" sz="quarter" idx="12"/>
          </p:nvPr>
        </p:nvSpPr>
        <p:spPr/>
        <p:txBody>
          <a:bodyPr/>
          <a:lstStyle/>
          <a:p>
            <a:fld id="{884BAD8C-CA57-40B9-AE81-6F96CAE36773}" type="slidenum">
              <a:rPr lang="en-US" smtClean="0"/>
              <a:t>‹#›</a:t>
            </a:fld>
            <a:endParaRPr lang="en-US"/>
          </a:p>
        </p:txBody>
      </p:sp>
    </p:spTree>
    <p:extLst>
      <p:ext uri="{BB962C8B-B14F-4D97-AF65-F5344CB8AC3E}">
        <p14:creationId xmlns:p14="http://schemas.microsoft.com/office/powerpoint/2010/main" val="5399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CAE84-71CE-A54C-27B3-D4CD1D7A27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2A8184-610F-6650-0740-9425A4BF1D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DFE314-4BE3-3EC6-D8D6-368C61BAB8B3}"/>
              </a:ext>
            </a:extLst>
          </p:cNvPr>
          <p:cNvSpPr>
            <a:spLocks noGrp="1"/>
          </p:cNvSpPr>
          <p:nvPr>
            <p:ph type="dt" sz="half" idx="10"/>
          </p:nvPr>
        </p:nvSpPr>
        <p:spPr/>
        <p:txBody>
          <a:bodyPr/>
          <a:lstStyle/>
          <a:p>
            <a:fld id="{A6C80E43-D91D-4998-97C7-5AF9C6543139}" type="datetimeFigureOut">
              <a:rPr lang="en-US" smtClean="0"/>
              <a:t>4/22/2026</a:t>
            </a:fld>
            <a:endParaRPr lang="en-US"/>
          </a:p>
        </p:txBody>
      </p:sp>
      <p:sp>
        <p:nvSpPr>
          <p:cNvPr id="5" name="Footer Placeholder 4">
            <a:extLst>
              <a:ext uri="{FF2B5EF4-FFF2-40B4-BE49-F238E27FC236}">
                <a16:creationId xmlns:a16="http://schemas.microsoft.com/office/drawing/2014/main" id="{6C5C5BF7-692F-506F-906E-A46D17FFC2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58A374-ED39-FDA2-C2D9-C233D2831DEA}"/>
              </a:ext>
            </a:extLst>
          </p:cNvPr>
          <p:cNvSpPr>
            <a:spLocks noGrp="1"/>
          </p:cNvSpPr>
          <p:nvPr>
            <p:ph type="sldNum" sz="quarter" idx="12"/>
          </p:nvPr>
        </p:nvSpPr>
        <p:spPr/>
        <p:txBody>
          <a:bodyPr/>
          <a:lstStyle/>
          <a:p>
            <a:fld id="{884BAD8C-CA57-40B9-AE81-6F96CAE36773}" type="slidenum">
              <a:rPr lang="en-US" smtClean="0"/>
              <a:t>‹#›</a:t>
            </a:fld>
            <a:endParaRPr lang="en-US"/>
          </a:p>
        </p:txBody>
      </p:sp>
    </p:spTree>
    <p:extLst>
      <p:ext uri="{BB962C8B-B14F-4D97-AF65-F5344CB8AC3E}">
        <p14:creationId xmlns:p14="http://schemas.microsoft.com/office/powerpoint/2010/main" val="3503431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AEC65-B021-E718-030A-FC5E914CBF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9311D1-273D-3B8F-0BC8-479A61F1CF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DB03F1-5EB8-BFFF-E42F-69316F7ADB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A88FA5D-2033-7B17-34EF-A647A3472D15}"/>
              </a:ext>
            </a:extLst>
          </p:cNvPr>
          <p:cNvSpPr>
            <a:spLocks noGrp="1"/>
          </p:cNvSpPr>
          <p:nvPr>
            <p:ph type="dt" sz="half" idx="10"/>
          </p:nvPr>
        </p:nvSpPr>
        <p:spPr/>
        <p:txBody>
          <a:bodyPr/>
          <a:lstStyle/>
          <a:p>
            <a:fld id="{A6C80E43-D91D-4998-97C7-5AF9C6543139}" type="datetimeFigureOut">
              <a:rPr lang="en-US" smtClean="0"/>
              <a:t>4/22/2026</a:t>
            </a:fld>
            <a:endParaRPr lang="en-US"/>
          </a:p>
        </p:txBody>
      </p:sp>
      <p:sp>
        <p:nvSpPr>
          <p:cNvPr id="6" name="Footer Placeholder 5">
            <a:extLst>
              <a:ext uri="{FF2B5EF4-FFF2-40B4-BE49-F238E27FC236}">
                <a16:creationId xmlns:a16="http://schemas.microsoft.com/office/drawing/2014/main" id="{3DF5433A-C2A0-7C1E-CC3B-7095FF4A17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2CC62B-DA54-38F8-4B77-69BC10B47833}"/>
              </a:ext>
            </a:extLst>
          </p:cNvPr>
          <p:cNvSpPr>
            <a:spLocks noGrp="1"/>
          </p:cNvSpPr>
          <p:nvPr>
            <p:ph type="sldNum" sz="quarter" idx="12"/>
          </p:nvPr>
        </p:nvSpPr>
        <p:spPr/>
        <p:txBody>
          <a:bodyPr/>
          <a:lstStyle/>
          <a:p>
            <a:fld id="{884BAD8C-CA57-40B9-AE81-6F96CAE36773}" type="slidenum">
              <a:rPr lang="en-US" smtClean="0"/>
              <a:t>‹#›</a:t>
            </a:fld>
            <a:endParaRPr lang="en-US"/>
          </a:p>
        </p:txBody>
      </p:sp>
    </p:spTree>
    <p:extLst>
      <p:ext uri="{BB962C8B-B14F-4D97-AF65-F5344CB8AC3E}">
        <p14:creationId xmlns:p14="http://schemas.microsoft.com/office/powerpoint/2010/main" val="2640381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25E55-3AEF-7CD1-6D23-BD2C4F8784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238AB2-D0B5-FAB0-0F25-2FBFC742D9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5F9235-61F7-E266-79D4-1F13D59729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D93C64-5ABC-F77C-F111-B6E5CF05E0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AD187F-85C0-F2DB-EAF9-0F0EDDC2F4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E37EC1-EFC2-1F1A-8618-C8F23CB642ED}"/>
              </a:ext>
            </a:extLst>
          </p:cNvPr>
          <p:cNvSpPr>
            <a:spLocks noGrp="1"/>
          </p:cNvSpPr>
          <p:nvPr>
            <p:ph type="dt" sz="half" idx="10"/>
          </p:nvPr>
        </p:nvSpPr>
        <p:spPr/>
        <p:txBody>
          <a:bodyPr/>
          <a:lstStyle/>
          <a:p>
            <a:fld id="{A6C80E43-D91D-4998-97C7-5AF9C6543139}" type="datetimeFigureOut">
              <a:rPr lang="en-US" smtClean="0"/>
              <a:t>4/22/2026</a:t>
            </a:fld>
            <a:endParaRPr lang="en-US"/>
          </a:p>
        </p:txBody>
      </p:sp>
      <p:sp>
        <p:nvSpPr>
          <p:cNvPr id="8" name="Footer Placeholder 7">
            <a:extLst>
              <a:ext uri="{FF2B5EF4-FFF2-40B4-BE49-F238E27FC236}">
                <a16:creationId xmlns:a16="http://schemas.microsoft.com/office/drawing/2014/main" id="{299170B0-BC89-4AC6-15D3-A16BF90D36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B82195-7561-FB1F-A9D7-847FA5E3DE84}"/>
              </a:ext>
            </a:extLst>
          </p:cNvPr>
          <p:cNvSpPr>
            <a:spLocks noGrp="1"/>
          </p:cNvSpPr>
          <p:nvPr>
            <p:ph type="sldNum" sz="quarter" idx="12"/>
          </p:nvPr>
        </p:nvSpPr>
        <p:spPr/>
        <p:txBody>
          <a:bodyPr/>
          <a:lstStyle/>
          <a:p>
            <a:fld id="{884BAD8C-CA57-40B9-AE81-6F96CAE36773}" type="slidenum">
              <a:rPr lang="en-US" smtClean="0"/>
              <a:t>‹#›</a:t>
            </a:fld>
            <a:endParaRPr lang="en-US"/>
          </a:p>
        </p:txBody>
      </p:sp>
    </p:spTree>
    <p:extLst>
      <p:ext uri="{BB962C8B-B14F-4D97-AF65-F5344CB8AC3E}">
        <p14:creationId xmlns:p14="http://schemas.microsoft.com/office/powerpoint/2010/main" val="3663435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C11A1-DB7C-BD81-6D71-0C1B131C64D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CC27C4-37B3-DBA9-26EB-635823CC4A34}"/>
              </a:ext>
            </a:extLst>
          </p:cNvPr>
          <p:cNvSpPr>
            <a:spLocks noGrp="1"/>
          </p:cNvSpPr>
          <p:nvPr>
            <p:ph type="dt" sz="half" idx="10"/>
          </p:nvPr>
        </p:nvSpPr>
        <p:spPr/>
        <p:txBody>
          <a:bodyPr/>
          <a:lstStyle/>
          <a:p>
            <a:fld id="{A6C80E43-D91D-4998-97C7-5AF9C6543139}" type="datetimeFigureOut">
              <a:rPr lang="en-US" smtClean="0"/>
              <a:t>4/22/2026</a:t>
            </a:fld>
            <a:endParaRPr lang="en-US"/>
          </a:p>
        </p:txBody>
      </p:sp>
      <p:sp>
        <p:nvSpPr>
          <p:cNvPr id="4" name="Footer Placeholder 3">
            <a:extLst>
              <a:ext uri="{FF2B5EF4-FFF2-40B4-BE49-F238E27FC236}">
                <a16:creationId xmlns:a16="http://schemas.microsoft.com/office/drawing/2014/main" id="{0AF328CA-0293-5D0A-3BFD-9E67364DE5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72C331-FC10-BCE0-46BE-C4AEA4D98810}"/>
              </a:ext>
            </a:extLst>
          </p:cNvPr>
          <p:cNvSpPr>
            <a:spLocks noGrp="1"/>
          </p:cNvSpPr>
          <p:nvPr>
            <p:ph type="sldNum" sz="quarter" idx="12"/>
          </p:nvPr>
        </p:nvSpPr>
        <p:spPr/>
        <p:txBody>
          <a:bodyPr/>
          <a:lstStyle/>
          <a:p>
            <a:fld id="{884BAD8C-CA57-40B9-AE81-6F96CAE36773}" type="slidenum">
              <a:rPr lang="en-US" smtClean="0"/>
              <a:t>‹#›</a:t>
            </a:fld>
            <a:endParaRPr lang="en-US"/>
          </a:p>
        </p:txBody>
      </p:sp>
    </p:spTree>
    <p:extLst>
      <p:ext uri="{BB962C8B-B14F-4D97-AF65-F5344CB8AC3E}">
        <p14:creationId xmlns:p14="http://schemas.microsoft.com/office/powerpoint/2010/main" val="1190471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426ECE-3FFA-9A53-9B6D-038371255552}"/>
              </a:ext>
            </a:extLst>
          </p:cNvPr>
          <p:cNvSpPr>
            <a:spLocks noGrp="1"/>
          </p:cNvSpPr>
          <p:nvPr>
            <p:ph type="dt" sz="half" idx="10"/>
          </p:nvPr>
        </p:nvSpPr>
        <p:spPr/>
        <p:txBody>
          <a:bodyPr/>
          <a:lstStyle/>
          <a:p>
            <a:fld id="{A6C80E43-D91D-4998-97C7-5AF9C6543139}" type="datetimeFigureOut">
              <a:rPr lang="en-US" smtClean="0"/>
              <a:t>4/22/2026</a:t>
            </a:fld>
            <a:endParaRPr lang="en-US"/>
          </a:p>
        </p:txBody>
      </p:sp>
      <p:sp>
        <p:nvSpPr>
          <p:cNvPr id="3" name="Footer Placeholder 2">
            <a:extLst>
              <a:ext uri="{FF2B5EF4-FFF2-40B4-BE49-F238E27FC236}">
                <a16:creationId xmlns:a16="http://schemas.microsoft.com/office/drawing/2014/main" id="{1B05F0D6-8241-184A-CDF6-2933B9B0837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C305AC-947F-32C9-6A0A-81167AE56299}"/>
              </a:ext>
            </a:extLst>
          </p:cNvPr>
          <p:cNvSpPr>
            <a:spLocks noGrp="1"/>
          </p:cNvSpPr>
          <p:nvPr>
            <p:ph type="sldNum" sz="quarter" idx="12"/>
          </p:nvPr>
        </p:nvSpPr>
        <p:spPr/>
        <p:txBody>
          <a:bodyPr/>
          <a:lstStyle/>
          <a:p>
            <a:fld id="{884BAD8C-CA57-40B9-AE81-6F96CAE36773}" type="slidenum">
              <a:rPr lang="en-US" smtClean="0"/>
              <a:t>‹#›</a:t>
            </a:fld>
            <a:endParaRPr lang="en-US"/>
          </a:p>
        </p:txBody>
      </p:sp>
    </p:spTree>
    <p:extLst>
      <p:ext uri="{BB962C8B-B14F-4D97-AF65-F5344CB8AC3E}">
        <p14:creationId xmlns:p14="http://schemas.microsoft.com/office/powerpoint/2010/main" val="4096588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F5E6A-AB45-9D6C-B966-418B659756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753C24-50D6-DA0B-4357-214265C6FF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1A2331-C2F9-995D-1D0B-36B676C819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3D61B3-F692-A8CA-C183-7E2B9AEFD4CB}"/>
              </a:ext>
            </a:extLst>
          </p:cNvPr>
          <p:cNvSpPr>
            <a:spLocks noGrp="1"/>
          </p:cNvSpPr>
          <p:nvPr>
            <p:ph type="dt" sz="half" idx="10"/>
          </p:nvPr>
        </p:nvSpPr>
        <p:spPr/>
        <p:txBody>
          <a:bodyPr/>
          <a:lstStyle/>
          <a:p>
            <a:fld id="{A6C80E43-D91D-4998-97C7-5AF9C6543139}" type="datetimeFigureOut">
              <a:rPr lang="en-US" smtClean="0"/>
              <a:t>4/22/2026</a:t>
            </a:fld>
            <a:endParaRPr lang="en-US"/>
          </a:p>
        </p:txBody>
      </p:sp>
      <p:sp>
        <p:nvSpPr>
          <p:cNvPr id="6" name="Footer Placeholder 5">
            <a:extLst>
              <a:ext uri="{FF2B5EF4-FFF2-40B4-BE49-F238E27FC236}">
                <a16:creationId xmlns:a16="http://schemas.microsoft.com/office/drawing/2014/main" id="{DC2A6C21-11F3-9B69-37DC-8A3D090267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C2ADDC-7324-A9DE-7657-E9200D511376}"/>
              </a:ext>
            </a:extLst>
          </p:cNvPr>
          <p:cNvSpPr>
            <a:spLocks noGrp="1"/>
          </p:cNvSpPr>
          <p:nvPr>
            <p:ph type="sldNum" sz="quarter" idx="12"/>
          </p:nvPr>
        </p:nvSpPr>
        <p:spPr/>
        <p:txBody>
          <a:bodyPr/>
          <a:lstStyle/>
          <a:p>
            <a:fld id="{884BAD8C-CA57-40B9-AE81-6F96CAE36773}" type="slidenum">
              <a:rPr lang="en-US" smtClean="0"/>
              <a:t>‹#›</a:t>
            </a:fld>
            <a:endParaRPr lang="en-US"/>
          </a:p>
        </p:txBody>
      </p:sp>
    </p:spTree>
    <p:extLst>
      <p:ext uri="{BB962C8B-B14F-4D97-AF65-F5344CB8AC3E}">
        <p14:creationId xmlns:p14="http://schemas.microsoft.com/office/powerpoint/2010/main" val="780041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E0F60-7866-C2B6-10EF-E1BF13EB73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F09DAD2-0892-0C23-19B9-E075B09039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065251-B9F3-B698-D401-7942C25E7D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F66104-62E5-DB54-9112-4891D2ABF03E}"/>
              </a:ext>
            </a:extLst>
          </p:cNvPr>
          <p:cNvSpPr>
            <a:spLocks noGrp="1"/>
          </p:cNvSpPr>
          <p:nvPr>
            <p:ph type="dt" sz="half" idx="10"/>
          </p:nvPr>
        </p:nvSpPr>
        <p:spPr/>
        <p:txBody>
          <a:bodyPr/>
          <a:lstStyle/>
          <a:p>
            <a:fld id="{A6C80E43-D91D-4998-97C7-5AF9C6543139}" type="datetimeFigureOut">
              <a:rPr lang="en-US" smtClean="0"/>
              <a:t>4/22/2026</a:t>
            </a:fld>
            <a:endParaRPr lang="en-US"/>
          </a:p>
        </p:txBody>
      </p:sp>
      <p:sp>
        <p:nvSpPr>
          <p:cNvPr id="6" name="Footer Placeholder 5">
            <a:extLst>
              <a:ext uri="{FF2B5EF4-FFF2-40B4-BE49-F238E27FC236}">
                <a16:creationId xmlns:a16="http://schemas.microsoft.com/office/drawing/2014/main" id="{9B4260E1-358A-817A-A327-7FAAB2B6E8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4AC2ED-064E-C945-7449-125557E590EA}"/>
              </a:ext>
            </a:extLst>
          </p:cNvPr>
          <p:cNvSpPr>
            <a:spLocks noGrp="1"/>
          </p:cNvSpPr>
          <p:nvPr>
            <p:ph type="sldNum" sz="quarter" idx="12"/>
          </p:nvPr>
        </p:nvSpPr>
        <p:spPr/>
        <p:txBody>
          <a:bodyPr/>
          <a:lstStyle/>
          <a:p>
            <a:fld id="{884BAD8C-CA57-40B9-AE81-6F96CAE36773}" type="slidenum">
              <a:rPr lang="en-US" smtClean="0"/>
              <a:t>‹#›</a:t>
            </a:fld>
            <a:endParaRPr lang="en-US"/>
          </a:p>
        </p:txBody>
      </p:sp>
    </p:spTree>
    <p:extLst>
      <p:ext uri="{BB962C8B-B14F-4D97-AF65-F5344CB8AC3E}">
        <p14:creationId xmlns:p14="http://schemas.microsoft.com/office/powerpoint/2010/main" val="319922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CC15F-857E-47A9-40F1-AA79E8E4AE3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8D73BE-0AE7-52E3-A32C-E5B25BE88B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2AB6DC-2713-6EA8-B7C5-78E74719A28B}"/>
              </a:ext>
            </a:extLst>
          </p:cNvPr>
          <p:cNvSpPr>
            <a:spLocks noGrp="1"/>
          </p:cNvSpPr>
          <p:nvPr>
            <p:ph type="dt" sz="half" idx="10"/>
          </p:nvPr>
        </p:nvSpPr>
        <p:spPr/>
        <p:txBody>
          <a:bodyPr/>
          <a:lstStyle/>
          <a:p>
            <a:fld id="{A6C80E43-D91D-4998-97C7-5AF9C6543139}" type="datetimeFigureOut">
              <a:rPr lang="en-US" smtClean="0"/>
              <a:t>4/22/2026</a:t>
            </a:fld>
            <a:endParaRPr lang="en-US"/>
          </a:p>
        </p:txBody>
      </p:sp>
      <p:sp>
        <p:nvSpPr>
          <p:cNvPr id="5" name="Footer Placeholder 4">
            <a:extLst>
              <a:ext uri="{FF2B5EF4-FFF2-40B4-BE49-F238E27FC236}">
                <a16:creationId xmlns:a16="http://schemas.microsoft.com/office/drawing/2014/main" id="{40ACB890-06C7-5CC8-EC33-0DD5D2640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7CAF4D-EFAB-1690-D6E9-3ED9A7F55C15}"/>
              </a:ext>
            </a:extLst>
          </p:cNvPr>
          <p:cNvSpPr>
            <a:spLocks noGrp="1"/>
          </p:cNvSpPr>
          <p:nvPr>
            <p:ph type="sldNum" sz="quarter" idx="12"/>
          </p:nvPr>
        </p:nvSpPr>
        <p:spPr/>
        <p:txBody>
          <a:bodyPr/>
          <a:lstStyle/>
          <a:p>
            <a:fld id="{884BAD8C-CA57-40B9-AE81-6F96CAE36773}" type="slidenum">
              <a:rPr lang="en-US" smtClean="0"/>
              <a:t>‹#›</a:t>
            </a:fld>
            <a:endParaRPr lang="en-US"/>
          </a:p>
        </p:txBody>
      </p:sp>
    </p:spTree>
    <p:extLst>
      <p:ext uri="{BB962C8B-B14F-4D97-AF65-F5344CB8AC3E}">
        <p14:creationId xmlns:p14="http://schemas.microsoft.com/office/powerpoint/2010/main" val="950291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B4AF93-AC67-A6D6-59AA-9C66E2050C1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C1E92C3-8A9D-E1BB-49A4-35FABF36B3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A79164-1028-0012-ABF2-82AD7D8DDD81}"/>
              </a:ext>
            </a:extLst>
          </p:cNvPr>
          <p:cNvSpPr>
            <a:spLocks noGrp="1"/>
          </p:cNvSpPr>
          <p:nvPr>
            <p:ph type="dt" sz="half" idx="10"/>
          </p:nvPr>
        </p:nvSpPr>
        <p:spPr/>
        <p:txBody>
          <a:bodyPr/>
          <a:lstStyle/>
          <a:p>
            <a:fld id="{A6C80E43-D91D-4998-97C7-5AF9C6543139}" type="datetimeFigureOut">
              <a:rPr lang="en-US" smtClean="0"/>
              <a:t>4/22/2026</a:t>
            </a:fld>
            <a:endParaRPr lang="en-US"/>
          </a:p>
        </p:txBody>
      </p:sp>
      <p:sp>
        <p:nvSpPr>
          <p:cNvPr id="5" name="Footer Placeholder 4">
            <a:extLst>
              <a:ext uri="{FF2B5EF4-FFF2-40B4-BE49-F238E27FC236}">
                <a16:creationId xmlns:a16="http://schemas.microsoft.com/office/drawing/2014/main" id="{960595FF-8B14-46BF-44C6-638880B1FA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FA740A-56F0-DD0E-6B86-7747E5FC169A}"/>
              </a:ext>
            </a:extLst>
          </p:cNvPr>
          <p:cNvSpPr>
            <a:spLocks noGrp="1"/>
          </p:cNvSpPr>
          <p:nvPr>
            <p:ph type="sldNum" sz="quarter" idx="12"/>
          </p:nvPr>
        </p:nvSpPr>
        <p:spPr/>
        <p:txBody>
          <a:bodyPr/>
          <a:lstStyle/>
          <a:p>
            <a:fld id="{884BAD8C-CA57-40B9-AE81-6F96CAE36773}" type="slidenum">
              <a:rPr lang="en-US" smtClean="0"/>
              <a:t>‹#›</a:t>
            </a:fld>
            <a:endParaRPr lang="en-US"/>
          </a:p>
        </p:txBody>
      </p:sp>
    </p:spTree>
    <p:extLst>
      <p:ext uri="{BB962C8B-B14F-4D97-AF65-F5344CB8AC3E}">
        <p14:creationId xmlns:p14="http://schemas.microsoft.com/office/powerpoint/2010/main" val="986861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8DF929-D997-420A-6624-0AB948E1F4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95C778-8ED3-7D4A-0A33-2CBF43DF6B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A70C28-B861-B868-F0D3-EF310E690D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C80E43-D91D-4998-97C7-5AF9C6543139}" type="datetimeFigureOut">
              <a:rPr lang="en-US" smtClean="0"/>
              <a:t>4/22/2026</a:t>
            </a:fld>
            <a:endParaRPr lang="en-US"/>
          </a:p>
        </p:txBody>
      </p:sp>
      <p:sp>
        <p:nvSpPr>
          <p:cNvPr id="5" name="Footer Placeholder 4">
            <a:extLst>
              <a:ext uri="{FF2B5EF4-FFF2-40B4-BE49-F238E27FC236}">
                <a16:creationId xmlns:a16="http://schemas.microsoft.com/office/drawing/2014/main" id="{FC6DD7FE-9F50-1E49-0423-C3964480F3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E37431E-5DC6-DCD6-F08D-E47B6968AA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4BAD8C-CA57-40B9-AE81-6F96CAE36773}" type="slidenum">
              <a:rPr lang="en-US" smtClean="0"/>
              <a:t>‹#›</a:t>
            </a:fld>
            <a:endParaRPr lang="en-US"/>
          </a:p>
        </p:txBody>
      </p:sp>
    </p:spTree>
    <p:extLst>
      <p:ext uri="{BB962C8B-B14F-4D97-AF65-F5344CB8AC3E}">
        <p14:creationId xmlns:p14="http://schemas.microsoft.com/office/powerpoint/2010/main" val="3686721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C9B16-C4D6-B139-541F-E92049D4C51D}"/>
              </a:ext>
            </a:extLst>
          </p:cNvPr>
          <p:cNvSpPr>
            <a:spLocks noGrp="1"/>
          </p:cNvSpPr>
          <p:nvPr>
            <p:ph type="ctrTitle"/>
          </p:nvPr>
        </p:nvSpPr>
        <p:spPr>
          <a:xfrm>
            <a:off x="1524000" y="554637"/>
            <a:ext cx="9144000" cy="1045563"/>
          </a:xfrm>
        </p:spPr>
        <p:txBody>
          <a:bodyPr/>
          <a:lstStyle/>
          <a:p>
            <a:r>
              <a:rPr lang="en-US" dirty="0"/>
              <a:t>Group </a:t>
            </a:r>
            <a:r>
              <a:rPr lang="en-US" dirty="0" err="1"/>
              <a:t>Behaviour</a:t>
            </a:r>
            <a:endParaRPr lang="en-US" dirty="0"/>
          </a:p>
        </p:txBody>
      </p:sp>
      <p:sp>
        <p:nvSpPr>
          <p:cNvPr id="3" name="Subtitle 2">
            <a:extLst>
              <a:ext uri="{FF2B5EF4-FFF2-40B4-BE49-F238E27FC236}">
                <a16:creationId xmlns:a16="http://schemas.microsoft.com/office/drawing/2014/main" id="{E9F700AA-8B1C-84A2-E1A7-2A8BE32A5628}"/>
              </a:ext>
            </a:extLst>
          </p:cNvPr>
          <p:cNvSpPr>
            <a:spLocks noGrp="1"/>
          </p:cNvSpPr>
          <p:nvPr>
            <p:ph type="subTitle" idx="1"/>
          </p:nvPr>
        </p:nvSpPr>
        <p:spPr>
          <a:xfrm>
            <a:off x="1284158" y="2177973"/>
            <a:ext cx="9144000" cy="1655762"/>
          </a:xfrm>
        </p:spPr>
        <p:txBody>
          <a:bodyPr>
            <a:noAutofit/>
          </a:bodyPr>
          <a:lstStyle/>
          <a:p>
            <a:pPr marL="342900" indent="-342900">
              <a:buFont typeface="Arial" panose="020B0604020202020204" pitchFamily="34" charset="0"/>
              <a:buChar char="•"/>
            </a:pPr>
            <a:r>
              <a:rPr lang="en-US" sz="1600" dirty="0"/>
              <a:t>Definition</a:t>
            </a:r>
          </a:p>
          <a:p>
            <a:pPr marL="342900" indent="-342900">
              <a:buFont typeface="Arial" panose="020B0604020202020204" pitchFamily="34" charset="0"/>
              <a:buChar char="•"/>
            </a:pPr>
            <a:r>
              <a:rPr lang="en-US" sz="1600" dirty="0"/>
              <a:t> types</a:t>
            </a:r>
          </a:p>
          <a:p>
            <a:pPr marL="342900" indent="-342900">
              <a:buFont typeface="Arial" panose="020B0604020202020204" pitchFamily="34" charset="0"/>
              <a:buChar char="•"/>
            </a:pPr>
            <a:r>
              <a:rPr lang="en-US" sz="1600" dirty="0"/>
              <a:t> formation of groups</a:t>
            </a:r>
          </a:p>
          <a:p>
            <a:pPr marL="342900" indent="-342900">
              <a:buFont typeface="Arial" panose="020B0604020202020204" pitchFamily="34" charset="0"/>
              <a:buChar char="•"/>
            </a:pPr>
            <a:r>
              <a:rPr lang="en-US" sz="1600" dirty="0"/>
              <a:t> building effective teams</a:t>
            </a:r>
          </a:p>
          <a:p>
            <a:pPr marL="342900" indent="-342900">
              <a:buFont typeface="Arial" panose="020B0604020202020204" pitchFamily="34" charset="0"/>
              <a:buChar char="•"/>
            </a:pPr>
            <a:r>
              <a:rPr lang="en-US" sz="1600" dirty="0"/>
              <a:t> Conflict</a:t>
            </a:r>
          </a:p>
          <a:p>
            <a:pPr marL="342900" indent="-342900">
              <a:buFont typeface="Arial" panose="020B0604020202020204" pitchFamily="34" charset="0"/>
              <a:buChar char="•"/>
            </a:pPr>
            <a:r>
              <a:rPr lang="en-US" sz="1600" dirty="0"/>
              <a:t>:Meaning</a:t>
            </a:r>
          </a:p>
          <a:p>
            <a:pPr marL="342900" indent="-342900">
              <a:buFont typeface="Arial" panose="020B0604020202020204" pitchFamily="34" charset="0"/>
              <a:buChar char="•"/>
            </a:pPr>
            <a:r>
              <a:rPr lang="en-US" sz="1600" dirty="0"/>
              <a:t>types</a:t>
            </a:r>
          </a:p>
          <a:p>
            <a:pPr marL="342900" indent="-342900">
              <a:buFont typeface="Arial" panose="020B0604020202020204" pitchFamily="34" charset="0"/>
              <a:buChar char="•"/>
            </a:pPr>
            <a:r>
              <a:rPr lang="en-US" sz="1600" dirty="0"/>
              <a:t> process of conflict </a:t>
            </a:r>
          </a:p>
          <a:p>
            <a:pPr marL="342900" indent="-342900">
              <a:buFont typeface="Arial" panose="020B0604020202020204" pitchFamily="34" charset="0"/>
              <a:buChar char="•"/>
            </a:pPr>
            <a:r>
              <a:rPr lang="en-US" sz="1600" dirty="0"/>
              <a:t>conflict resolution</a:t>
            </a:r>
          </a:p>
        </p:txBody>
      </p:sp>
    </p:spTree>
    <p:extLst>
      <p:ext uri="{BB962C8B-B14F-4D97-AF65-F5344CB8AC3E}">
        <p14:creationId xmlns:p14="http://schemas.microsoft.com/office/powerpoint/2010/main" val="3338022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80083-2329-D81B-07AD-5E9737782D9E}"/>
              </a:ext>
            </a:extLst>
          </p:cNvPr>
          <p:cNvSpPr>
            <a:spLocks noGrp="1"/>
          </p:cNvSpPr>
          <p:nvPr>
            <p:ph type="title"/>
          </p:nvPr>
        </p:nvSpPr>
        <p:spPr/>
        <p:txBody>
          <a:bodyPr/>
          <a:lstStyle/>
          <a:p>
            <a:r>
              <a:rPr lang="en-US" dirty="0"/>
              <a:t>Definition</a:t>
            </a:r>
          </a:p>
        </p:txBody>
      </p:sp>
      <p:sp>
        <p:nvSpPr>
          <p:cNvPr id="3" name="Content Placeholder 2">
            <a:extLst>
              <a:ext uri="{FF2B5EF4-FFF2-40B4-BE49-F238E27FC236}">
                <a16:creationId xmlns:a16="http://schemas.microsoft.com/office/drawing/2014/main" id="{1BC1A52A-AF15-5E01-FAA0-5D6ADA9D1AEB}"/>
              </a:ext>
            </a:extLst>
          </p:cNvPr>
          <p:cNvSpPr>
            <a:spLocks noGrp="1"/>
          </p:cNvSpPr>
          <p:nvPr>
            <p:ph idx="1"/>
          </p:nvPr>
        </p:nvSpPr>
        <p:spPr/>
        <p:txBody>
          <a:bodyPr/>
          <a:lstStyle/>
          <a:p>
            <a:r>
              <a:rPr lang="en-US" dirty="0"/>
              <a:t>A group is defined as two or more individuals, interacting and interdependent, who have come together to achieve a particular objective.</a:t>
            </a:r>
          </a:p>
          <a:p>
            <a:r>
              <a:rPr lang="en-US" dirty="0"/>
              <a:t>M.E. Shaw defined a group “as two or more people who interact and influence one another</a:t>
            </a:r>
          </a:p>
        </p:txBody>
      </p:sp>
    </p:spTree>
    <p:extLst>
      <p:ext uri="{BB962C8B-B14F-4D97-AF65-F5344CB8AC3E}">
        <p14:creationId xmlns:p14="http://schemas.microsoft.com/office/powerpoint/2010/main" val="3794814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248BF-14D0-63B4-F74D-CCD1CBDD7EBB}"/>
              </a:ext>
            </a:extLst>
          </p:cNvPr>
          <p:cNvSpPr>
            <a:spLocks noGrp="1"/>
          </p:cNvSpPr>
          <p:nvPr>
            <p:ph type="title"/>
          </p:nvPr>
        </p:nvSpPr>
        <p:spPr/>
        <p:txBody>
          <a:bodyPr/>
          <a:lstStyle/>
          <a:p>
            <a:r>
              <a:rPr lang="en-US" dirty="0"/>
              <a:t>Types of Groups:</a:t>
            </a:r>
          </a:p>
        </p:txBody>
      </p:sp>
      <p:sp>
        <p:nvSpPr>
          <p:cNvPr id="3" name="Content Placeholder 2">
            <a:extLst>
              <a:ext uri="{FF2B5EF4-FFF2-40B4-BE49-F238E27FC236}">
                <a16:creationId xmlns:a16="http://schemas.microsoft.com/office/drawing/2014/main" id="{8C13D9B9-9647-4A68-645B-F07D94B7CD8B}"/>
              </a:ext>
            </a:extLst>
          </p:cNvPr>
          <p:cNvSpPr>
            <a:spLocks noGrp="1"/>
          </p:cNvSpPr>
          <p:nvPr>
            <p:ph idx="1"/>
          </p:nvPr>
        </p:nvSpPr>
        <p:spPr/>
        <p:txBody>
          <a:bodyPr/>
          <a:lstStyle/>
          <a:p>
            <a:r>
              <a:rPr lang="en-US" dirty="0"/>
              <a:t>Following are the different types of Groups;</a:t>
            </a:r>
          </a:p>
          <a:p>
            <a:r>
              <a:rPr lang="en-US" dirty="0"/>
              <a:t>1. Formal group:</a:t>
            </a:r>
          </a:p>
          <a:p>
            <a:r>
              <a:rPr lang="en-US" dirty="0"/>
              <a:t>2. Command group:</a:t>
            </a:r>
          </a:p>
          <a:p>
            <a:r>
              <a:rPr lang="en-US" dirty="0"/>
              <a:t>3. Committees</a:t>
            </a:r>
          </a:p>
          <a:p>
            <a:r>
              <a:rPr lang="en-US" dirty="0"/>
              <a:t>4. Informal groups:</a:t>
            </a:r>
          </a:p>
          <a:p>
            <a:endParaRPr lang="en-US" dirty="0"/>
          </a:p>
        </p:txBody>
      </p:sp>
    </p:spTree>
    <p:extLst>
      <p:ext uri="{BB962C8B-B14F-4D97-AF65-F5344CB8AC3E}">
        <p14:creationId xmlns:p14="http://schemas.microsoft.com/office/powerpoint/2010/main" val="1181883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DE063-9FD2-A6D0-546E-6A7DFC955056}"/>
              </a:ext>
            </a:extLst>
          </p:cNvPr>
          <p:cNvSpPr>
            <a:spLocks noGrp="1"/>
          </p:cNvSpPr>
          <p:nvPr>
            <p:ph type="title"/>
          </p:nvPr>
        </p:nvSpPr>
        <p:spPr/>
        <p:txBody>
          <a:bodyPr/>
          <a:lstStyle/>
          <a:p>
            <a:r>
              <a:rPr lang="en-US" dirty="0"/>
              <a:t>Types of Groups</a:t>
            </a:r>
          </a:p>
        </p:txBody>
      </p:sp>
      <p:sp>
        <p:nvSpPr>
          <p:cNvPr id="3" name="Content Placeholder 2">
            <a:extLst>
              <a:ext uri="{FF2B5EF4-FFF2-40B4-BE49-F238E27FC236}">
                <a16:creationId xmlns:a16="http://schemas.microsoft.com/office/drawing/2014/main" id="{B88B69BA-B490-CE1D-34E0-A90480B1BB38}"/>
              </a:ext>
            </a:extLst>
          </p:cNvPr>
          <p:cNvSpPr>
            <a:spLocks noGrp="1"/>
          </p:cNvSpPr>
          <p:nvPr>
            <p:ph idx="1"/>
          </p:nvPr>
        </p:nvSpPr>
        <p:spPr/>
        <p:txBody>
          <a:bodyPr/>
          <a:lstStyle/>
          <a:p>
            <a:r>
              <a:rPr lang="en-US" dirty="0"/>
              <a:t> </a:t>
            </a:r>
            <a:r>
              <a:rPr lang="en-US" b="1" dirty="0"/>
              <a:t>Formal group</a:t>
            </a:r>
            <a:r>
              <a:rPr lang="en-US" dirty="0"/>
              <a:t>: This group is defined by the organizational structure. After planning, organizations group the activities and put those under a formal structure, deciding their goals and objectives and strategies to achieve the same.</a:t>
            </a:r>
          </a:p>
          <a:p>
            <a:r>
              <a:rPr lang="en-US" dirty="0"/>
              <a:t> Formal group members report to their superiors and interact with each other to achieve the common goals</a:t>
            </a:r>
          </a:p>
        </p:txBody>
      </p:sp>
    </p:spTree>
    <p:extLst>
      <p:ext uri="{BB962C8B-B14F-4D97-AF65-F5344CB8AC3E}">
        <p14:creationId xmlns:p14="http://schemas.microsoft.com/office/powerpoint/2010/main" val="1907563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C5FB4-ABB0-2785-0A9C-B6074AF75EDB}"/>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B435101B-5CB9-F8D5-71EE-F25A38F6F79A}"/>
              </a:ext>
            </a:extLst>
          </p:cNvPr>
          <p:cNvSpPr>
            <a:spLocks noGrp="1"/>
          </p:cNvSpPr>
          <p:nvPr>
            <p:ph idx="1"/>
          </p:nvPr>
        </p:nvSpPr>
        <p:spPr/>
        <p:txBody>
          <a:bodyPr/>
          <a:lstStyle/>
          <a:p>
            <a:r>
              <a:rPr lang="en-US" b="1" dirty="0"/>
              <a:t>2. Command group:</a:t>
            </a:r>
          </a:p>
          <a:p>
            <a:r>
              <a:rPr lang="en-US" dirty="0"/>
              <a:t> This is a formal group, determined by the organization’s hierarchal chart and composed of the individuals that report to a particular manager. For instance, the manager of training has a command group of his employees, the training group. This group is also known as task group. A task is defined as cross-functional activities, carried out by group members to accomplish a common goal. A team represents the nature of a command group. A command group can be formed by drawing members from various formal groups. </a:t>
            </a:r>
          </a:p>
        </p:txBody>
      </p:sp>
    </p:spTree>
    <p:extLst>
      <p:ext uri="{BB962C8B-B14F-4D97-AF65-F5344CB8AC3E}">
        <p14:creationId xmlns:p14="http://schemas.microsoft.com/office/powerpoint/2010/main" val="3352797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101C-8B7B-2B35-A55C-959AC35B2495}"/>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96CA7D48-2FE1-E991-B932-DE367731E9DC}"/>
              </a:ext>
            </a:extLst>
          </p:cNvPr>
          <p:cNvSpPr>
            <a:spLocks noGrp="1"/>
          </p:cNvSpPr>
          <p:nvPr>
            <p:ph idx="1"/>
          </p:nvPr>
        </p:nvSpPr>
        <p:spPr/>
        <p:txBody>
          <a:bodyPr/>
          <a:lstStyle/>
          <a:p>
            <a:r>
              <a:rPr lang="en-US" b="1" dirty="0"/>
              <a:t>3. Committees: </a:t>
            </a:r>
          </a:p>
          <a:p>
            <a:r>
              <a:rPr lang="en-US" dirty="0"/>
              <a:t>To achieve results, organizations often form permanent or temporary committees, drawing members from various formal groups. Committees also represent the presence of cross-functional members. While for </a:t>
            </a:r>
            <a:r>
              <a:rPr lang="en-US" dirty="0" err="1"/>
              <a:t>acommand</a:t>
            </a:r>
            <a:r>
              <a:rPr lang="en-US" dirty="0"/>
              <a:t> group, goals may be specific, for committees, it is varied</a:t>
            </a:r>
          </a:p>
        </p:txBody>
      </p:sp>
    </p:spTree>
    <p:extLst>
      <p:ext uri="{BB962C8B-B14F-4D97-AF65-F5344CB8AC3E}">
        <p14:creationId xmlns:p14="http://schemas.microsoft.com/office/powerpoint/2010/main" val="1604510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7CFAD-28BA-56D9-4441-DEAB8AF4A2C8}"/>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B93C7F00-7B99-67C7-4E50-934F22E8A1CE}"/>
              </a:ext>
            </a:extLst>
          </p:cNvPr>
          <p:cNvSpPr>
            <a:spLocks noGrp="1"/>
          </p:cNvSpPr>
          <p:nvPr>
            <p:ph idx="1"/>
          </p:nvPr>
        </p:nvSpPr>
        <p:spPr/>
        <p:txBody>
          <a:bodyPr/>
          <a:lstStyle/>
          <a:p>
            <a:r>
              <a:rPr lang="en-US" b="1" dirty="0"/>
              <a:t>4. Informal groups:</a:t>
            </a:r>
          </a:p>
          <a:p>
            <a:r>
              <a:rPr lang="en-US" dirty="0"/>
              <a:t> Informal groups are formed within a formal organizational structure. Informal group members primarily meet the social or affiliation needs sharing their commons interests. Thus informal groups are not organizationally determined; the members themselves from such groups to fulfil their needs for social interaction. </a:t>
            </a:r>
          </a:p>
        </p:txBody>
      </p:sp>
    </p:spTree>
    <p:extLst>
      <p:ext uri="{BB962C8B-B14F-4D97-AF65-F5344CB8AC3E}">
        <p14:creationId xmlns:p14="http://schemas.microsoft.com/office/powerpoint/2010/main" val="3955553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2DD18-6D43-7E5F-DB18-5BD5AFFACF68}"/>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9E9968D5-C63D-8807-8542-BBE9EE219D79}"/>
              </a:ext>
            </a:extLst>
          </p:cNvPr>
          <p:cNvSpPr>
            <a:spLocks noGrp="1"/>
          </p:cNvSpPr>
          <p:nvPr>
            <p:ph idx="1"/>
          </p:nvPr>
        </p:nvSpPr>
        <p:spPr/>
        <p:txBody>
          <a:bodyPr>
            <a:normAutofit/>
          </a:bodyPr>
          <a:lstStyle/>
          <a:p>
            <a:r>
              <a:rPr lang="en-US" b="1" dirty="0"/>
              <a:t>An informal group </a:t>
            </a:r>
            <a:r>
              <a:rPr lang="en-US" dirty="0"/>
              <a:t>may be a Friendship group: Friendship groups are formed by like-minded people. These are groups of people who have come together because they share common ideas, common interests or other similarities, like age or ethnic background.  Interest group: Those who have common interests form interest groups. An interest group is usually informal, and is a group of people who band together to attain a specific objective with which each member is concerned. Within an organization, this might be a group of people who come together to demand better working conditions or a better employee evaluation process.</a:t>
            </a:r>
          </a:p>
        </p:txBody>
      </p:sp>
    </p:spTree>
    <p:extLst>
      <p:ext uri="{BB962C8B-B14F-4D97-AF65-F5344CB8AC3E}">
        <p14:creationId xmlns:p14="http://schemas.microsoft.com/office/powerpoint/2010/main" val="2660403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71E9E-0878-8806-D333-DB2780650709}"/>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A853DA2F-8314-2DCA-7756-E8732E9940A8}"/>
              </a:ext>
            </a:extLst>
          </p:cNvPr>
          <p:cNvSpPr>
            <a:spLocks noGrp="1"/>
          </p:cNvSpPr>
          <p:nvPr>
            <p:ph idx="1"/>
          </p:nvPr>
        </p:nvSpPr>
        <p:spPr/>
        <p:txBody>
          <a:bodyPr/>
          <a:lstStyle/>
          <a:p>
            <a:r>
              <a:rPr lang="en-US" b="1" dirty="0"/>
              <a:t>Reference group or membership group</a:t>
            </a:r>
            <a:r>
              <a:rPr lang="en-US" dirty="0"/>
              <a:t>:</a:t>
            </a:r>
          </a:p>
          <a:p>
            <a:endParaRPr lang="en-US" dirty="0"/>
          </a:p>
          <a:p>
            <a:r>
              <a:rPr lang="en-US" dirty="0"/>
              <a:t> Reference groups are formed based on the compatibility of decisions and opinions. While membership groups are formed for the affiliation related needs.</a:t>
            </a:r>
          </a:p>
        </p:txBody>
      </p:sp>
    </p:spTree>
    <p:extLst>
      <p:ext uri="{BB962C8B-B14F-4D97-AF65-F5344CB8AC3E}">
        <p14:creationId xmlns:p14="http://schemas.microsoft.com/office/powerpoint/2010/main" val="234191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2F6A9-5228-7F4C-1900-201F4032DE69}"/>
              </a:ext>
            </a:extLst>
          </p:cNvPr>
          <p:cNvSpPr>
            <a:spLocks noGrp="1"/>
          </p:cNvSpPr>
          <p:nvPr>
            <p:ph type="title"/>
          </p:nvPr>
        </p:nvSpPr>
        <p:spPr/>
        <p:txBody>
          <a:bodyPr/>
          <a:lstStyle/>
          <a:p>
            <a:r>
              <a:rPr lang="en-US" dirty="0"/>
              <a:t>Formation of groups:</a:t>
            </a:r>
          </a:p>
        </p:txBody>
      </p:sp>
      <p:sp>
        <p:nvSpPr>
          <p:cNvPr id="3" name="Content Placeholder 2">
            <a:extLst>
              <a:ext uri="{FF2B5EF4-FFF2-40B4-BE49-F238E27FC236}">
                <a16:creationId xmlns:a16="http://schemas.microsoft.com/office/drawing/2014/main" id="{87FF65F0-8FBD-2206-5634-D0C26219CF1D}"/>
              </a:ext>
            </a:extLst>
          </p:cNvPr>
          <p:cNvSpPr>
            <a:spLocks noGrp="1"/>
          </p:cNvSpPr>
          <p:nvPr>
            <p:ph idx="1"/>
          </p:nvPr>
        </p:nvSpPr>
        <p:spPr/>
        <p:txBody>
          <a:bodyPr/>
          <a:lstStyle/>
          <a:p>
            <a:r>
              <a:rPr lang="en-US" dirty="0"/>
              <a:t>Five Stages of Group Development</a:t>
            </a:r>
          </a:p>
          <a:p>
            <a:r>
              <a:rPr lang="en-US" dirty="0"/>
              <a:t>1) Forming Stage-</a:t>
            </a:r>
          </a:p>
          <a:p>
            <a:r>
              <a:rPr lang="en-US" dirty="0"/>
              <a:t>2) Storming Stage-</a:t>
            </a:r>
          </a:p>
          <a:p>
            <a:r>
              <a:rPr lang="en-US" dirty="0"/>
              <a:t>3) Norming Stage-</a:t>
            </a:r>
          </a:p>
          <a:p>
            <a:r>
              <a:rPr lang="en-US" dirty="0"/>
              <a:t>4) Performing Stage-</a:t>
            </a:r>
          </a:p>
          <a:p>
            <a:r>
              <a:rPr lang="en-US" dirty="0"/>
              <a:t>5) Adjourning Stage-</a:t>
            </a:r>
          </a:p>
        </p:txBody>
      </p:sp>
    </p:spTree>
    <p:extLst>
      <p:ext uri="{BB962C8B-B14F-4D97-AF65-F5344CB8AC3E}">
        <p14:creationId xmlns:p14="http://schemas.microsoft.com/office/powerpoint/2010/main" val="899930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CEA86-A595-1EEE-AB4A-667575EEA0FD}"/>
              </a:ext>
            </a:extLst>
          </p:cNvPr>
          <p:cNvSpPr>
            <a:spLocks noGrp="1"/>
          </p:cNvSpPr>
          <p:nvPr>
            <p:ph type="title"/>
          </p:nvPr>
        </p:nvSpPr>
        <p:spPr/>
        <p:txBody>
          <a:bodyPr/>
          <a:lstStyle/>
          <a:p>
            <a:r>
              <a:rPr lang="en-US" dirty="0"/>
              <a:t>Defining</a:t>
            </a:r>
          </a:p>
        </p:txBody>
      </p:sp>
      <p:sp>
        <p:nvSpPr>
          <p:cNvPr id="3" name="Content Placeholder 2">
            <a:extLst>
              <a:ext uri="{FF2B5EF4-FFF2-40B4-BE49-F238E27FC236}">
                <a16:creationId xmlns:a16="http://schemas.microsoft.com/office/drawing/2014/main" id="{27711297-D7BA-3A49-DD0A-F23D65C013EC}"/>
              </a:ext>
            </a:extLst>
          </p:cNvPr>
          <p:cNvSpPr>
            <a:spLocks noGrp="1"/>
          </p:cNvSpPr>
          <p:nvPr>
            <p:ph idx="1"/>
          </p:nvPr>
        </p:nvSpPr>
        <p:spPr/>
        <p:txBody>
          <a:bodyPr/>
          <a:lstStyle/>
          <a:p>
            <a:r>
              <a:rPr lang="en-US" b="1" dirty="0"/>
              <a:t>Forming Stage- </a:t>
            </a:r>
          </a:p>
          <a:p>
            <a:r>
              <a:rPr lang="en-US" dirty="0"/>
              <a:t>. The very first stage of group development is the forming stage. This stage presents the time where a group is just formed and the members are starting to come together as a team. In this stage, the members are learning what to do. At this stage, most members of the group are extremely polite and are still very happy about their future.</a:t>
            </a:r>
          </a:p>
        </p:txBody>
      </p:sp>
    </p:spTree>
    <p:extLst>
      <p:ext uri="{BB962C8B-B14F-4D97-AF65-F5344CB8AC3E}">
        <p14:creationId xmlns:p14="http://schemas.microsoft.com/office/powerpoint/2010/main" val="2634939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02996-254C-4349-F92D-832BF5F504C1}"/>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C86F9590-5160-87B8-A96A-1D391677CF42}"/>
              </a:ext>
            </a:extLst>
          </p:cNvPr>
          <p:cNvSpPr>
            <a:spLocks noGrp="1"/>
          </p:cNvSpPr>
          <p:nvPr>
            <p:ph idx="1"/>
          </p:nvPr>
        </p:nvSpPr>
        <p:spPr/>
        <p:txBody>
          <a:bodyPr/>
          <a:lstStyle/>
          <a:p>
            <a:r>
              <a:rPr lang="en-US" b="1" dirty="0"/>
              <a:t>Storming Stage-</a:t>
            </a:r>
          </a:p>
          <a:p>
            <a:r>
              <a:rPr lang="en-US" dirty="0"/>
              <a:t> The storming stage is the second stage of group development. In this stage, the group members have understood the work and therefore the dispute and the competition are at a high level.</a:t>
            </a:r>
          </a:p>
        </p:txBody>
      </p:sp>
    </p:spTree>
    <p:extLst>
      <p:ext uri="{BB962C8B-B14F-4D97-AF65-F5344CB8AC3E}">
        <p14:creationId xmlns:p14="http://schemas.microsoft.com/office/powerpoint/2010/main" val="2531801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E8206-05AB-29BF-CA56-019F4A20C17F}"/>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BC089C87-91A7-0DA4-5F39-E3DA4FB3C510}"/>
              </a:ext>
            </a:extLst>
          </p:cNvPr>
          <p:cNvSpPr>
            <a:spLocks noGrp="1"/>
          </p:cNvSpPr>
          <p:nvPr>
            <p:ph idx="1"/>
          </p:nvPr>
        </p:nvSpPr>
        <p:spPr/>
        <p:txBody>
          <a:bodyPr/>
          <a:lstStyle/>
          <a:p>
            <a:r>
              <a:rPr lang="en-US" b="1" dirty="0"/>
              <a:t>Norming Stage-</a:t>
            </a:r>
          </a:p>
          <a:p>
            <a:r>
              <a:rPr lang="en-US" dirty="0"/>
              <a:t> This is the stage where the group becomes fun and enjoyable because the interaction among the members is easier, productive, and cooperative.</a:t>
            </a:r>
          </a:p>
        </p:txBody>
      </p:sp>
    </p:spTree>
    <p:extLst>
      <p:ext uri="{BB962C8B-B14F-4D97-AF65-F5344CB8AC3E}">
        <p14:creationId xmlns:p14="http://schemas.microsoft.com/office/powerpoint/2010/main" val="4231617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4FA04-F8D6-DBC5-AC0D-B59A46995E7A}"/>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C9F8652C-272E-9914-C8D8-BC0B5FA0729D}"/>
              </a:ext>
            </a:extLst>
          </p:cNvPr>
          <p:cNvSpPr>
            <a:spLocks noGrp="1"/>
          </p:cNvSpPr>
          <p:nvPr>
            <p:ph idx="1"/>
          </p:nvPr>
        </p:nvSpPr>
        <p:spPr/>
        <p:txBody>
          <a:bodyPr/>
          <a:lstStyle/>
          <a:p>
            <a:pPr marL="0" indent="0">
              <a:buNone/>
            </a:pPr>
            <a:r>
              <a:rPr lang="en-US" dirty="0"/>
              <a:t> </a:t>
            </a:r>
            <a:r>
              <a:rPr lang="en-US" b="1" dirty="0"/>
              <a:t>Performing Stage-</a:t>
            </a:r>
          </a:p>
          <a:p>
            <a:pPr marL="0" indent="0">
              <a:buNone/>
            </a:pPr>
            <a:r>
              <a:rPr lang="en-US" dirty="0"/>
              <a:t>. At this stage, a sense of belongingness is established because the talents, skills, and experience of each group member are acknowledged. The work becomes more flexible. At this stage, team members are increasingly respecting those in leadership positions.</a:t>
            </a:r>
          </a:p>
        </p:txBody>
      </p:sp>
    </p:spTree>
    <p:extLst>
      <p:ext uri="{BB962C8B-B14F-4D97-AF65-F5344CB8AC3E}">
        <p14:creationId xmlns:p14="http://schemas.microsoft.com/office/powerpoint/2010/main" val="2789593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BDEA4-A6D6-4686-E5D4-029B843D90F1}"/>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EEC17DF7-5AD1-C1A0-7B0F-6DBF089C757D}"/>
              </a:ext>
            </a:extLst>
          </p:cNvPr>
          <p:cNvSpPr>
            <a:spLocks noGrp="1"/>
          </p:cNvSpPr>
          <p:nvPr>
            <p:ph idx="1"/>
          </p:nvPr>
        </p:nvSpPr>
        <p:spPr/>
        <p:txBody>
          <a:bodyPr/>
          <a:lstStyle/>
          <a:p>
            <a:pPr marL="0" indent="0">
              <a:buNone/>
            </a:pPr>
            <a:r>
              <a:rPr lang="en-US" dirty="0"/>
              <a:t> </a:t>
            </a:r>
            <a:r>
              <a:rPr lang="en-US" b="1" dirty="0"/>
              <a:t>Adjourning Stage- </a:t>
            </a:r>
            <a:r>
              <a:rPr lang="en-US" dirty="0"/>
              <a:t>This stage is very crucial in group development.</a:t>
            </a:r>
          </a:p>
          <a:p>
            <a:pPr marL="0" indent="0">
              <a:buNone/>
            </a:pPr>
            <a:r>
              <a:rPr lang="en-US" dirty="0"/>
              <a:t> This stage shows that the project has come to an end.</a:t>
            </a:r>
          </a:p>
          <a:p>
            <a:pPr marL="0" indent="0">
              <a:buNone/>
            </a:pPr>
            <a:endParaRPr lang="en-US" dirty="0"/>
          </a:p>
          <a:p>
            <a:pPr marL="0" indent="0">
              <a:buNone/>
            </a:pPr>
            <a:r>
              <a:rPr lang="en-US" b="1" dirty="0"/>
              <a:t>Building effective teams</a:t>
            </a:r>
            <a:r>
              <a:rPr lang="en-US" dirty="0"/>
              <a:t>:</a:t>
            </a:r>
          </a:p>
          <a:p>
            <a:pPr marL="0" indent="0">
              <a:buNone/>
            </a:pPr>
            <a:r>
              <a:rPr lang="en-US" dirty="0"/>
              <a:t> An effective team is one which contributes to the achievement of organizational objectives by performing the task assigned to it and providing satisfaction to its members. Team effectiveness depends on the complementary of team members, other factors remaining the same.</a:t>
            </a:r>
          </a:p>
        </p:txBody>
      </p:sp>
    </p:spTree>
    <p:extLst>
      <p:ext uri="{BB962C8B-B14F-4D97-AF65-F5344CB8AC3E}">
        <p14:creationId xmlns:p14="http://schemas.microsoft.com/office/powerpoint/2010/main" val="3399042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FB88D-2B65-FB31-3CF8-67A9D66A1603}"/>
              </a:ext>
            </a:extLst>
          </p:cNvPr>
          <p:cNvSpPr>
            <a:spLocks noGrp="1"/>
          </p:cNvSpPr>
          <p:nvPr>
            <p:ph type="title"/>
          </p:nvPr>
        </p:nvSpPr>
        <p:spPr/>
        <p:txBody>
          <a:bodyPr/>
          <a:lstStyle/>
          <a:p>
            <a:r>
              <a:rPr lang="en-US" b="1" dirty="0"/>
              <a:t>Building effective teams</a:t>
            </a:r>
            <a:r>
              <a:rPr lang="en-US" dirty="0"/>
              <a:t>:</a:t>
            </a:r>
            <a:br>
              <a:rPr lang="en-US" dirty="0"/>
            </a:br>
            <a:endParaRPr lang="en-US" dirty="0"/>
          </a:p>
        </p:txBody>
      </p:sp>
      <p:sp>
        <p:nvSpPr>
          <p:cNvPr id="3" name="Content Placeholder 2">
            <a:extLst>
              <a:ext uri="{FF2B5EF4-FFF2-40B4-BE49-F238E27FC236}">
                <a16:creationId xmlns:a16="http://schemas.microsoft.com/office/drawing/2014/main" id="{22928E84-2997-B920-3DA3-8BCD0629758F}"/>
              </a:ext>
            </a:extLst>
          </p:cNvPr>
          <p:cNvSpPr>
            <a:spLocks noGrp="1"/>
          </p:cNvSpPr>
          <p:nvPr>
            <p:ph idx="1"/>
          </p:nvPr>
        </p:nvSpPr>
        <p:spPr/>
        <p:txBody>
          <a:bodyPr/>
          <a:lstStyle/>
          <a:p>
            <a:r>
              <a:rPr lang="en-US" b="1" dirty="0"/>
              <a:t>Skills and Role Clarity</a:t>
            </a:r>
            <a:r>
              <a:rPr lang="en-US" dirty="0"/>
              <a:t>: </a:t>
            </a:r>
          </a:p>
          <a:p>
            <a:r>
              <a:rPr lang="en-US" dirty="0"/>
              <a:t>For an effective team, two things are required from its members; skills which are complementary to the team requirement and understanding of one’s own role as well as roles of other members.</a:t>
            </a:r>
          </a:p>
          <a:p>
            <a:r>
              <a:rPr lang="en-US" b="1" dirty="0"/>
              <a:t>Supportive Environment: </a:t>
            </a:r>
            <a:r>
              <a:rPr lang="en-US" dirty="0"/>
              <a:t>A team loaded with skilled members cannot perform well if the organizational climate is not supportive for that. </a:t>
            </a:r>
          </a:p>
        </p:txBody>
      </p:sp>
    </p:spTree>
    <p:extLst>
      <p:ext uri="{BB962C8B-B14F-4D97-AF65-F5344CB8AC3E}">
        <p14:creationId xmlns:p14="http://schemas.microsoft.com/office/powerpoint/2010/main" val="3362408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E38BB-38B2-FFFE-5CE1-8FFD5FFB8655}"/>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59F56398-E8C5-7FA3-CD62-888F62357160}"/>
              </a:ext>
            </a:extLst>
          </p:cNvPr>
          <p:cNvSpPr>
            <a:spLocks noGrp="1"/>
          </p:cNvSpPr>
          <p:nvPr>
            <p:ph idx="1"/>
          </p:nvPr>
        </p:nvSpPr>
        <p:spPr/>
        <p:txBody>
          <a:bodyPr/>
          <a:lstStyle/>
          <a:p>
            <a:r>
              <a:rPr lang="en-US" b="1" dirty="0"/>
              <a:t>Super-ordinate Goals: </a:t>
            </a:r>
          </a:p>
          <a:p>
            <a:r>
              <a:rPr lang="en-US" dirty="0"/>
              <a:t>Super-ordinate goals are those which are above the goals of a single team or a single individual. An individual works better if he is able to link how his goal attainment leads to the attainment of a higher level goal. </a:t>
            </a:r>
          </a:p>
        </p:txBody>
      </p:sp>
    </p:spTree>
    <p:extLst>
      <p:ext uri="{BB962C8B-B14F-4D97-AF65-F5344CB8AC3E}">
        <p14:creationId xmlns:p14="http://schemas.microsoft.com/office/powerpoint/2010/main" val="641929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9D906-364A-5794-C514-55C38B96D5F6}"/>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6095762D-9CB8-77A4-0999-BC6BF531EE86}"/>
              </a:ext>
            </a:extLst>
          </p:cNvPr>
          <p:cNvSpPr>
            <a:spLocks noGrp="1"/>
          </p:cNvSpPr>
          <p:nvPr>
            <p:ph idx="1"/>
          </p:nvPr>
        </p:nvSpPr>
        <p:spPr/>
        <p:txBody>
          <a:bodyPr/>
          <a:lstStyle/>
          <a:p>
            <a:r>
              <a:rPr lang="en-US" b="1" dirty="0"/>
              <a:t>Team Rewards: </a:t>
            </a:r>
          </a:p>
          <a:p>
            <a:r>
              <a:rPr lang="en-US" dirty="0"/>
              <a:t>Team performance depends on how reward is linked to team performance and how members perceive this linkage. If team members perceive that reward to contingent on team performance, they will put their maximum. </a:t>
            </a:r>
          </a:p>
        </p:txBody>
      </p:sp>
    </p:spTree>
    <p:extLst>
      <p:ext uri="{BB962C8B-B14F-4D97-AF65-F5344CB8AC3E}">
        <p14:creationId xmlns:p14="http://schemas.microsoft.com/office/powerpoint/2010/main" val="1311900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3E277-59C2-134A-BDCA-DBD1693ABF01}"/>
              </a:ext>
            </a:extLst>
          </p:cNvPr>
          <p:cNvSpPr>
            <a:spLocks noGrp="1"/>
          </p:cNvSpPr>
          <p:nvPr>
            <p:ph type="title"/>
          </p:nvPr>
        </p:nvSpPr>
        <p:spPr/>
        <p:txBody>
          <a:bodyPr/>
          <a:lstStyle/>
          <a:p>
            <a:r>
              <a:rPr lang="en-US" b="1" dirty="0"/>
              <a:t>Conflict:</a:t>
            </a:r>
          </a:p>
        </p:txBody>
      </p:sp>
      <p:sp>
        <p:nvSpPr>
          <p:cNvPr id="3" name="Content Placeholder 2">
            <a:extLst>
              <a:ext uri="{FF2B5EF4-FFF2-40B4-BE49-F238E27FC236}">
                <a16:creationId xmlns:a16="http://schemas.microsoft.com/office/drawing/2014/main" id="{DB2F2E35-4FE3-5228-B77B-9EA87AB0FB3A}"/>
              </a:ext>
            </a:extLst>
          </p:cNvPr>
          <p:cNvSpPr>
            <a:spLocks noGrp="1"/>
          </p:cNvSpPr>
          <p:nvPr>
            <p:ph idx="1"/>
          </p:nvPr>
        </p:nvSpPr>
        <p:spPr/>
        <p:txBody>
          <a:bodyPr/>
          <a:lstStyle/>
          <a:p>
            <a:r>
              <a:rPr lang="en-US" b="1" dirty="0"/>
              <a:t>Meaning: </a:t>
            </a:r>
          </a:p>
          <a:p>
            <a:r>
              <a:rPr lang="en-US" dirty="0"/>
              <a:t>Conflict is any disagreement between two or more people and groups. Whenever two or more people have different interests, values, goals, and understanding conflict arises. It may be in a person, within people, within groups, or within organizations.</a:t>
            </a:r>
          </a:p>
          <a:p>
            <a:r>
              <a:rPr lang="en-US" dirty="0"/>
              <a:t>In other words, conflict refers to all kinds of opposition or antagonistic interaction between or among individuals and groups.</a:t>
            </a:r>
          </a:p>
        </p:txBody>
      </p:sp>
    </p:spTree>
    <p:extLst>
      <p:ext uri="{BB962C8B-B14F-4D97-AF65-F5344CB8AC3E}">
        <p14:creationId xmlns:p14="http://schemas.microsoft.com/office/powerpoint/2010/main" val="82811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AE425-E2EB-A9E0-0566-12F7084ACF37}"/>
              </a:ext>
            </a:extLst>
          </p:cNvPr>
          <p:cNvSpPr>
            <a:spLocks noGrp="1"/>
          </p:cNvSpPr>
          <p:nvPr>
            <p:ph type="title"/>
          </p:nvPr>
        </p:nvSpPr>
        <p:spPr/>
        <p:txBody>
          <a:bodyPr/>
          <a:lstStyle/>
          <a:p>
            <a:r>
              <a:rPr lang="en-US" b="1" dirty="0"/>
              <a:t>Nature</a:t>
            </a:r>
          </a:p>
        </p:txBody>
      </p:sp>
      <p:sp>
        <p:nvSpPr>
          <p:cNvPr id="3" name="Content Placeholder 2">
            <a:extLst>
              <a:ext uri="{FF2B5EF4-FFF2-40B4-BE49-F238E27FC236}">
                <a16:creationId xmlns:a16="http://schemas.microsoft.com/office/drawing/2014/main" id="{AD50968E-D1BD-8C74-30E9-AC0100F12E0D}"/>
              </a:ext>
            </a:extLst>
          </p:cNvPr>
          <p:cNvSpPr>
            <a:spLocks noGrp="1"/>
          </p:cNvSpPr>
          <p:nvPr>
            <p:ph idx="1"/>
          </p:nvPr>
        </p:nvSpPr>
        <p:spPr/>
        <p:txBody>
          <a:bodyPr>
            <a:normAutofit fontScale="92500" lnSpcReduction="10000"/>
          </a:bodyPr>
          <a:lstStyle/>
          <a:p>
            <a:r>
              <a:rPr lang="en-US" dirty="0"/>
              <a:t>  It occurs when two or more parties pursue mutually exclusive goals, values, or events.  </a:t>
            </a:r>
          </a:p>
          <a:p>
            <a:r>
              <a:rPr lang="en-US" dirty="0"/>
              <a:t>It can exist either at talent or over level.</a:t>
            </a:r>
          </a:p>
          <a:p>
            <a:r>
              <a:rPr lang="en-US" dirty="0"/>
              <a:t> It is the opposite of cooperation. </a:t>
            </a:r>
          </a:p>
          <a:p>
            <a:r>
              <a:rPr lang="en-US" dirty="0"/>
              <a:t>It is a dynamic process.</a:t>
            </a:r>
          </a:p>
          <a:p>
            <a:r>
              <a:rPr lang="en-US" dirty="0"/>
              <a:t> It indicates a series of events.  </a:t>
            </a:r>
          </a:p>
          <a:p>
            <a:r>
              <a:rPr lang="en-US" dirty="0"/>
              <a:t>It is a misunderstanding. </a:t>
            </a:r>
          </a:p>
          <a:p>
            <a:r>
              <a:rPr lang="en-US" dirty="0"/>
              <a:t>It is inevitable.  </a:t>
            </a:r>
          </a:p>
          <a:p>
            <a:r>
              <a:rPr lang="en-US" dirty="0"/>
              <a:t>It is a reason for creativity.  </a:t>
            </a:r>
          </a:p>
          <a:p>
            <a:r>
              <a:rPr lang="en-US" dirty="0"/>
              <a:t>It is a part of us everyone’s life</a:t>
            </a:r>
          </a:p>
        </p:txBody>
      </p:sp>
    </p:spTree>
    <p:extLst>
      <p:ext uri="{BB962C8B-B14F-4D97-AF65-F5344CB8AC3E}">
        <p14:creationId xmlns:p14="http://schemas.microsoft.com/office/powerpoint/2010/main" val="1988809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6DDC9-761B-0867-B658-2E7539A3B8F0}"/>
              </a:ext>
            </a:extLst>
          </p:cNvPr>
          <p:cNvSpPr>
            <a:spLocks noGrp="1"/>
          </p:cNvSpPr>
          <p:nvPr>
            <p:ph type="title"/>
          </p:nvPr>
        </p:nvSpPr>
        <p:spPr/>
        <p:txBody>
          <a:bodyPr/>
          <a:lstStyle/>
          <a:p>
            <a:r>
              <a:rPr lang="en-US" b="1" dirty="0"/>
              <a:t>Types of Conflict:</a:t>
            </a:r>
          </a:p>
        </p:txBody>
      </p:sp>
      <p:sp>
        <p:nvSpPr>
          <p:cNvPr id="3" name="Content Placeholder 2">
            <a:extLst>
              <a:ext uri="{FF2B5EF4-FFF2-40B4-BE49-F238E27FC236}">
                <a16:creationId xmlns:a16="http://schemas.microsoft.com/office/drawing/2014/main" id="{F2BCB3B7-E38F-570F-4C6D-C0DECDB7EDDB}"/>
              </a:ext>
            </a:extLst>
          </p:cNvPr>
          <p:cNvSpPr>
            <a:spLocks noGrp="1"/>
          </p:cNvSpPr>
          <p:nvPr>
            <p:ph idx="1"/>
          </p:nvPr>
        </p:nvSpPr>
        <p:spPr/>
        <p:txBody>
          <a:bodyPr/>
          <a:lstStyle/>
          <a:p>
            <a:r>
              <a:rPr lang="en-US" dirty="0"/>
              <a:t>Intra-Personal Conflict (Within an Individual):</a:t>
            </a:r>
          </a:p>
          <a:p>
            <a:r>
              <a:rPr lang="en-US" dirty="0"/>
              <a:t>Interpersonal Conflict (Between Individuals):</a:t>
            </a:r>
          </a:p>
          <a:p>
            <a:r>
              <a:rPr lang="en-US" dirty="0"/>
              <a:t>Inter-Group Conflict:</a:t>
            </a:r>
          </a:p>
          <a:p>
            <a:r>
              <a:rPr lang="en-US" dirty="0"/>
              <a:t>Inter-Organizational Conflict</a:t>
            </a:r>
          </a:p>
          <a:p>
            <a:endParaRPr lang="en-US" dirty="0"/>
          </a:p>
        </p:txBody>
      </p:sp>
    </p:spTree>
    <p:extLst>
      <p:ext uri="{BB962C8B-B14F-4D97-AF65-F5344CB8AC3E}">
        <p14:creationId xmlns:p14="http://schemas.microsoft.com/office/powerpoint/2010/main" val="2698589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9B150-CB03-DE84-2FE2-3691E0096C48}"/>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47E7C233-A132-751B-151E-40914EAE0739}"/>
              </a:ext>
            </a:extLst>
          </p:cNvPr>
          <p:cNvSpPr>
            <a:spLocks noGrp="1"/>
          </p:cNvSpPr>
          <p:nvPr>
            <p:ph idx="1"/>
          </p:nvPr>
        </p:nvSpPr>
        <p:spPr/>
        <p:txBody>
          <a:bodyPr/>
          <a:lstStyle/>
          <a:p>
            <a:r>
              <a:rPr lang="en-US" b="1" dirty="0"/>
              <a:t>Intra-Personal Conflict (Within an Individual):</a:t>
            </a:r>
          </a:p>
          <a:p>
            <a:r>
              <a:rPr lang="en-US" dirty="0"/>
              <a:t> Intra-personal conflict arises inside an individual. It arises due to divergent 8 goals and multiple roles, which the individual is expected to play. Goal conflicts occur when an individual faces the problem of choosing among competing goals. Role conflicts arise when the expectations of a role are materially different or opposite and the individual can meet one expectation only at the cost of other expectations.</a:t>
            </a:r>
          </a:p>
        </p:txBody>
      </p:sp>
    </p:spTree>
    <p:extLst>
      <p:ext uri="{BB962C8B-B14F-4D97-AF65-F5344CB8AC3E}">
        <p14:creationId xmlns:p14="http://schemas.microsoft.com/office/powerpoint/2010/main" val="22426403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6CE71-0AF2-2E58-B8A6-ED8707CA0DB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1C6BD18-E706-DDC9-2EA7-18F6616B04CE}"/>
              </a:ext>
            </a:extLst>
          </p:cNvPr>
          <p:cNvSpPr>
            <a:spLocks noGrp="1"/>
          </p:cNvSpPr>
          <p:nvPr>
            <p:ph idx="1"/>
          </p:nvPr>
        </p:nvSpPr>
        <p:spPr/>
        <p:txBody>
          <a:bodyPr/>
          <a:lstStyle/>
          <a:p>
            <a:r>
              <a:rPr lang="en-US" b="1" dirty="0"/>
              <a:t>Interpersonal Conflict (Between Individuals):</a:t>
            </a:r>
          </a:p>
          <a:p>
            <a:r>
              <a:rPr lang="en-US" b="1" dirty="0"/>
              <a:t> </a:t>
            </a:r>
            <a:r>
              <a:rPr lang="en-US" dirty="0"/>
              <a:t>It occurs in a condition when two or more persons interact with one another. Such interaction may take place between peers or seniors and subordinates. The conflict between them may arise due to the difference in their choices made by them</a:t>
            </a:r>
          </a:p>
        </p:txBody>
      </p:sp>
    </p:spTree>
    <p:extLst>
      <p:ext uri="{BB962C8B-B14F-4D97-AF65-F5344CB8AC3E}">
        <p14:creationId xmlns:p14="http://schemas.microsoft.com/office/powerpoint/2010/main" val="20617085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02B41-2094-A822-33E0-C49F4F9540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F45ADF7-F995-68DF-C78B-6552FBC75893}"/>
              </a:ext>
            </a:extLst>
          </p:cNvPr>
          <p:cNvSpPr>
            <a:spLocks noGrp="1"/>
          </p:cNvSpPr>
          <p:nvPr>
            <p:ph idx="1"/>
          </p:nvPr>
        </p:nvSpPr>
        <p:spPr/>
        <p:txBody>
          <a:bodyPr/>
          <a:lstStyle/>
          <a:p>
            <a:r>
              <a:rPr lang="en-US" b="1" dirty="0"/>
              <a:t>Inter-Group Conflict: </a:t>
            </a:r>
          </a:p>
          <a:p>
            <a:r>
              <a:rPr lang="en-US" dirty="0"/>
              <a:t>It occurs between two or more groups in the organization. Many intergroup conflicts arise for organizational causes rather than interpersonal causes. The conflict between line and staff, between production and sales department, and between management and unions, are examples of group conflicts.</a:t>
            </a:r>
          </a:p>
        </p:txBody>
      </p:sp>
    </p:spTree>
    <p:extLst>
      <p:ext uri="{BB962C8B-B14F-4D97-AF65-F5344CB8AC3E}">
        <p14:creationId xmlns:p14="http://schemas.microsoft.com/office/powerpoint/2010/main" val="24185329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2E4FE-ADCC-489C-6F0C-64F0B110AC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BC8671-D78E-C2BC-6DAF-70444E63B17D}"/>
              </a:ext>
            </a:extLst>
          </p:cNvPr>
          <p:cNvSpPr>
            <a:spLocks noGrp="1"/>
          </p:cNvSpPr>
          <p:nvPr>
            <p:ph idx="1"/>
          </p:nvPr>
        </p:nvSpPr>
        <p:spPr/>
        <p:txBody>
          <a:bodyPr/>
          <a:lstStyle/>
          <a:p>
            <a:r>
              <a:rPr lang="en-US" b="1" dirty="0"/>
              <a:t>Inter-Organizational Conflict </a:t>
            </a:r>
            <a:r>
              <a:rPr lang="en-US" dirty="0"/>
              <a:t>Inter-organizational conflict is called when it arises between two organizations. It is a result of business competition. Both the conflicting parties generally engage in providing similar types of services or products. Both parties become barriers to each other’s success.</a:t>
            </a:r>
          </a:p>
        </p:txBody>
      </p:sp>
    </p:spTree>
    <p:extLst>
      <p:ext uri="{BB962C8B-B14F-4D97-AF65-F5344CB8AC3E}">
        <p14:creationId xmlns:p14="http://schemas.microsoft.com/office/powerpoint/2010/main" val="8461233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AF3AB-F51B-E338-6C7E-405B04D2FA0F}"/>
              </a:ext>
            </a:extLst>
          </p:cNvPr>
          <p:cNvSpPr>
            <a:spLocks noGrp="1"/>
          </p:cNvSpPr>
          <p:nvPr>
            <p:ph type="title"/>
          </p:nvPr>
        </p:nvSpPr>
        <p:spPr/>
        <p:txBody>
          <a:bodyPr/>
          <a:lstStyle/>
          <a:p>
            <a:r>
              <a:rPr lang="en-US" dirty="0"/>
              <a:t>How conflict arises???</a:t>
            </a:r>
          </a:p>
        </p:txBody>
      </p:sp>
      <p:sp>
        <p:nvSpPr>
          <p:cNvPr id="3" name="Content Placeholder 2">
            <a:extLst>
              <a:ext uri="{FF2B5EF4-FFF2-40B4-BE49-F238E27FC236}">
                <a16:creationId xmlns:a16="http://schemas.microsoft.com/office/drawing/2014/main" id="{6AFDE146-9544-E184-9393-D3397903FCBB}"/>
              </a:ext>
            </a:extLst>
          </p:cNvPr>
          <p:cNvSpPr>
            <a:spLocks noGrp="1"/>
          </p:cNvSpPr>
          <p:nvPr>
            <p:ph idx="1"/>
          </p:nvPr>
        </p:nvSpPr>
        <p:spPr/>
        <p:txBody>
          <a:bodyPr/>
          <a:lstStyle/>
          <a:p>
            <a:r>
              <a:rPr lang="en-US" dirty="0"/>
              <a:t>The conflict process—that is, the process by which conflict arises—can be seen in five stages. </a:t>
            </a:r>
          </a:p>
          <a:p>
            <a:r>
              <a:rPr lang="en-US" dirty="0"/>
              <a:t>Those stages are:</a:t>
            </a:r>
          </a:p>
          <a:p>
            <a:r>
              <a:rPr lang="en-US" dirty="0"/>
              <a:t> 1. Potential opposition or incompatibility </a:t>
            </a:r>
          </a:p>
          <a:p>
            <a:r>
              <a:rPr lang="en-US" dirty="0"/>
              <a:t>2. Cognition and personalization</a:t>
            </a:r>
          </a:p>
          <a:p>
            <a:r>
              <a:rPr lang="en-US" dirty="0"/>
              <a:t> 3. Intentions </a:t>
            </a:r>
          </a:p>
          <a:p>
            <a:r>
              <a:rPr lang="en-US" dirty="0"/>
              <a:t>4. Behavior</a:t>
            </a:r>
          </a:p>
          <a:p>
            <a:r>
              <a:rPr lang="en-US" dirty="0"/>
              <a:t> 5. Outcomes</a:t>
            </a:r>
          </a:p>
        </p:txBody>
      </p:sp>
    </p:spTree>
    <p:extLst>
      <p:ext uri="{BB962C8B-B14F-4D97-AF65-F5344CB8AC3E}">
        <p14:creationId xmlns:p14="http://schemas.microsoft.com/office/powerpoint/2010/main" val="8592971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5BFD1-CAAF-70D8-0DF6-3C8BBE4D164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E8FA9AE-0942-8EA1-FE2D-E97A3AFC0F39}"/>
              </a:ext>
            </a:extLst>
          </p:cNvPr>
          <p:cNvSpPr>
            <a:spLocks noGrp="1"/>
          </p:cNvSpPr>
          <p:nvPr>
            <p:ph idx="1"/>
          </p:nvPr>
        </p:nvSpPr>
        <p:spPr/>
        <p:txBody>
          <a:bodyPr/>
          <a:lstStyle/>
          <a:p>
            <a:r>
              <a:rPr lang="en-US" b="1" dirty="0"/>
              <a:t>1. Potential Opposition or Incompatibility</a:t>
            </a:r>
          </a:p>
          <a:p>
            <a:r>
              <a:rPr lang="en-US" dirty="0"/>
              <a:t> The first stage in the conflict process is the existence of conditions that allow conflict to arise. The existence of these conditions doesn’t necessarily guarantee conflict will arise. But if conflict does arise, chances are it’s because of issues regarding communication, structure, or personal variables.</a:t>
            </a:r>
          </a:p>
        </p:txBody>
      </p:sp>
    </p:spTree>
    <p:extLst>
      <p:ext uri="{BB962C8B-B14F-4D97-AF65-F5344CB8AC3E}">
        <p14:creationId xmlns:p14="http://schemas.microsoft.com/office/powerpoint/2010/main" val="6758879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3F5C4-0D08-BC60-5098-87AA4A59F4A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8AB1CCB-9954-884F-0AC2-426760F5F0FA}"/>
              </a:ext>
            </a:extLst>
          </p:cNvPr>
          <p:cNvSpPr>
            <a:spLocks noGrp="1"/>
          </p:cNvSpPr>
          <p:nvPr>
            <p:ph idx="1"/>
          </p:nvPr>
        </p:nvSpPr>
        <p:spPr/>
        <p:txBody>
          <a:bodyPr/>
          <a:lstStyle/>
          <a:p>
            <a:r>
              <a:rPr lang="en-US" b="1" dirty="0"/>
              <a:t>Communication</a:t>
            </a:r>
          </a:p>
          <a:p>
            <a:r>
              <a:rPr lang="en-US" dirty="0"/>
              <a:t>. Conflict can arise from semantic issues, misunderstanding, or noise in the communication channel that hasn’t been clarified. For instance, your new manager, Steve, is leading a project and you’re on the team. Steve is vague about the team’s goals, and when you get to work on your part of the project, Steve shows up half the way through to tell you you’re doing it wrong. This is conflict caused by communication.</a:t>
            </a:r>
          </a:p>
        </p:txBody>
      </p:sp>
    </p:spTree>
    <p:extLst>
      <p:ext uri="{BB962C8B-B14F-4D97-AF65-F5344CB8AC3E}">
        <p14:creationId xmlns:p14="http://schemas.microsoft.com/office/powerpoint/2010/main" val="17832021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E138F-2E6D-148D-29D7-65EE7A75C6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E053C6C-512A-6567-1011-A0B58E2BE21F}"/>
              </a:ext>
            </a:extLst>
          </p:cNvPr>
          <p:cNvSpPr>
            <a:spLocks noGrp="1"/>
          </p:cNvSpPr>
          <p:nvPr>
            <p:ph idx="1"/>
          </p:nvPr>
        </p:nvSpPr>
        <p:spPr/>
        <p:txBody>
          <a:bodyPr/>
          <a:lstStyle/>
          <a:p>
            <a:r>
              <a:rPr lang="en-US" b="1" dirty="0"/>
              <a:t>Structure. </a:t>
            </a:r>
          </a:p>
          <a:p>
            <a:r>
              <a:rPr lang="en-US" dirty="0"/>
              <a:t>Conflict can arise based on the structure of a group of people who have to work together. For instance, let’s say you sell cars, and your co-worker has to approve the credit of all the people who purchase a vehicle from you. If your co-worker doesn’t approve your customers, then he is standing between you and your commission, your good performance review, and your paycheck. This is a structure that invites conflict.</a:t>
            </a:r>
          </a:p>
        </p:txBody>
      </p:sp>
    </p:spTree>
    <p:extLst>
      <p:ext uri="{BB962C8B-B14F-4D97-AF65-F5344CB8AC3E}">
        <p14:creationId xmlns:p14="http://schemas.microsoft.com/office/powerpoint/2010/main" val="10037247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1F1D3-D3F6-7634-B197-FA750BB251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42BBFE9-51B0-D4B9-6AC9-EE04A22009BA}"/>
              </a:ext>
            </a:extLst>
          </p:cNvPr>
          <p:cNvSpPr>
            <a:spLocks noGrp="1"/>
          </p:cNvSpPr>
          <p:nvPr>
            <p:ph idx="1"/>
          </p:nvPr>
        </p:nvSpPr>
        <p:spPr/>
        <p:txBody>
          <a:bodyPr/>
          <a:lstStyle/>
          <a:p>
            <a:r>
              <a:rPr lang="en-US" b="1" dirty="0"/>
              <a:t>Personal variables</a:t>
            </a:r>
            <a:r>
              <a:rPr lang="en-US" dirty="0"/>
              <a:t>.</a:t>
            </a:r>
          </a:p>
          <a:p>
            <a:r>
              <a:rPr lang="en-US" dirty="0"/>
              <a:t> Conflict can arise if two people who work together just don’t care for each other. Perhaps you work with a man and you find him untrustworthy. Comments he’s made, the way he laughs, the way he talks about his wife and family, all of it just rubs you the wrong way. That’s personal variable, ripe to cause a conflict.</a:t>
            </a:r>
          </a:p>
        </p:txBody>
      </p:sp>
    </p:spTree>
    <p:extLst>
      <p:ext uri="{BB962C8B-B14F-4D97-AF65-F5344CB8AC3E}">
        <p14:creationId xmlns:p14="http://schemas.microsoft.com/office/powerpoint/2010/main" val="38189282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DC0E3-66FF-9382-B33B-24B1446408AC}"/>
              </a:ext>
            </a:extLst>
          </p:cNvPr>
          <p:cNvSpPr>
            <a:spLocks noGrp="1"/>
          </p:cNvSpPr>
          <p:nvPr>
            <p:ph type="title"/>
          </p:nvPr>
        </p:nvSpPr>
        <p:spPr/>
        <p:txBody>
          <a:bodyPr/>
          <a:lstStyle/>
          <a:p>
            <a:r>
              <a:rPr lang="en-US" dirty="0"/>
              <a:t>2. </a:t>
            </a:r>
            <a:r>
              <a:rPr lang="en-US" b="1" dirty="0"/>
              <a:t>Cognition and Personalization</a:t>
            </a:r>
          </a:p>
        </p:txBody>
      </p:sp>
      <p:sp>
        <p:nvSpPr>
          <p:cNvPr id="3" name="Content Placeholder 2">
            <a:extLst>
              <a:ext uri="{FF2B5EF4-FFF2-40B4-BE49-F238E27FC236}">
                <a16:creationId xmlns:a16="http://schemas.microsoft.com/office/drawing/2014/main" id="{59A07C46-66ED-D26F-E268-0D9C1E4712FC}"/>
              </a:ext>
            </a:extLst>
          </p:cNvPr>
          <p:cNvSpPr>
            <a:spLocks noGrp="1"/>
          </p:cNvSpPr>
          <p:nvPr>
            <p:ph idx="1"/>
          </p:nvPr>
        </p:nvSpPr>
        <p:spPr/>
        <p:txBody>
          <a:bodyPr/>
          <a:lstStyle/>
          <a:p>
            <a:r>
              <a:rPr lang="en-US" dirty="0"/>
              <a:t>In the last section, we talked about how conflict only exists if it’s perceived to exist. If it’s been determined that potential opposition or incompatibility exists and both parties feel it, then conflict is developing. If Joan and her new manager, Mitch, are having a disagreement, they may perceive it but not be personally affected by it. Perhaps Joan is not worried about the disagreement. It is only when both parties understand that conflict is brewing, and they internalize it as something that is affecting them, that this stage is complete.</a:t>
            </a:r>
          </a:p>
        </p:txBody>
      </p:sp>
    </p:spTree>
    <p:extLst>
      <p:ext uri="{BB962C8B-B14F-4D97-AF65-F5344CB8AC3E}">
        <p14:creationId xmlns:p14="http://schemas.microsoft.com/office/powerpoint/2010/main" val="42310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D1A7B-6023-C2AC-960D-A19DD318EFB6}"/>
              </a:ext>
            </a:extLst>
          </p:cNvPr>
          <p:cNvSpPr>
            <a:spLocks noGrp="1"/>
          </p:cNvSpPr>
          <p:nvPr>
            <p:ph type="title"/>
          </p:nvPr>
        </p:nvSpPr>
        <p:spPr/>
        <p:txBody>
          <a:bodyPr/>
          <a:lstStyle/>
          <a:p>
            <a:r>
              <a:rPr lang="en-US" dirty="0"/>
              <a:t>3. Intentions</a:t>
            </a:r>
          </a:p>
        </p:txBody>
      </p:sp>
      <p:sp>
        <p:nvSpPr>
          <p:cNvPr id="3" name="Content Placeholder 2">
            <a:extLst>
              <a:ext uri="{FF2B5EF4-FFF2-40B4-BE49-F238E27FC236}">
                <a16:creationId xmlns:a16="http://schemas.microsoft.com/office/drawing/2014/main" id="{67A1F869-A015-D43D-6590-9331D301B4B2}"/>
              </a:ext>
            </a:extLst>
          </p:cNvPr>
          <p:cNvSpPr>
            <a:spLocks noGrp="1"/>
          </p:cNvSpPr>
          <p:nvPr>
            <p:ph idx="1"/>
          </p:nvPr>
        </p:nvSpPr>
        <p:spPr/>
        <p:txBody>
          <a:bodyPr>
            <a:normAutofit/>
          </a:bodyPr>
          <a:lstStyle/>
          <a:p>
            <a:pPr marL="0" indent="0">
              <a:buNone/>
            </a:pPr>
            <a:r>
              <a:rPr lang="en-US" dirty="0"/>
              <a:t> Intentions come between people’s perceptions and emotions and help those who are involved in the potential conflict to decide to act in a particular way. One has to infer what the other person meant in order to determine how to respond to a statement or action. A lot of conflicts are escalated because one party infers the wrong intentions from the other person. </a:t>
            </a:r>
          </a:p>
        </p:txBody>
      </p:sp>
    </p:spTree>
    <p:extLst>
      <p:ext uri="{BB962C8B-B14F-4D97-AF65-F5344CB8AC3E}">
        <p14:creationId xmlns:p14="http://schemas.microsoft.com/office/powerpoint/2010/main" val="210604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5842A-1FA9-A9A3-15B2-B32ACE4D276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06E813D-935F-6125-4D46-1AC30FE246E5}"/>
              </a:ext>
            </a:extLst>
          </p:cNvPr>
          <p:cNvSpPr>
            <a:spLocks noGrp="1"/>
          </p:cNvSpPr>
          <p:nvPr>
            <p:ph idx="1"/>
          </p:nvPr>
        </p:nvSpPr>
        <p:spPr/>
        <p:txBody>
          <a:bodyPr>
            <a:normAutofit fontScale="92500" lnSpcReduction="20000"/>
          </a:bodyPr>
          <a:lstStyle/>
          <a:p>
            <a:pPr marL="0" indent="0">
              <a:buNone/>
            </a:pPr>
            <a:r>
              <a:rPr lang="en-US" dirty="0"/>
              <a:t>There are five different ways a person can respond to the other party’s statements or actions. </a:t>
            </a:r>
          </a:p>
          <a:p>
            <a:pPr marL="0" indent="0">
              <a:buNone/>
            </a:pPr>
            <a:r>
              <a:rPr lang="en-US" b="1" dirty="0"/>
              <a:t>Competing</a:t>
            </a:r>
            <a:r>
              <a:rPr lang="en-US" dirty="0"/>
              <a:t>. One party seeks to satisfy his own interests regardless of the impact on the other party. </a:t>
            </a:r>
          </a:p>
          <a:p>
            <a:pPr marL="0" indent="0">
              <a:buNone/>
            </a:pPr>
            <a:r>
              <a:rPr lang="en-US" dirty="0"/>
              <a:t> </a:t>
            </a:r>
            <a:r>
              <a:rPr lang="en-US" b="1" dirty="0"/>
              <a:t>Collaborating</a:t>
            </a:r>
            <a:r>
              <a:rPr lang="en-US" dirty="0"/>
              <a:t>. One party, or both, desire to fully satisfied the concerns of all parties involved in the conflict.</a:t>
            </a:r>
          </a:p>
          <a:p>
            <a:pPr marL="0" indent="0">
              <a:buNone/>
            </a:pPr>
            <a:r>
              <a:rPr lang="en-US" b="1" dirty="0"/>
              <a:t>  Avoiding. </a:t>
            </a:r>
            <a:r>
              <a:rPr lang="en-US" dirty="0"/>
              <a:t>One party withdraws from or suppresses the conflict once it is recognized.</a:t>
            </a:r>
          </a:p>
          <a:p>
            <a:pPr marL="0" indent="0">
              <a:buNone/>
            </a:pPr>
            <a:r>
              <a:rPr lang="en-US" b="1" dirty="0"/>
              <a:t> Accommodating</a:t>
            </a:r>
            <a:r>
              <a:rPr lang="en-US" dirty="0"/>
              <a:t>. One party seeks to appease the opponent once potential conflict is recognized. </a:t>
            </a:r>
          </a:p>
          <a:p>
            <a:pPr marL="0" indent="0">
              <a:buNone/>
            </a:pPr>
            <a:r>
              <a:rPr lang="en-US" dirty="0"/>
              <a:t> </a:t>
            </a:r>
            <a:r>
              <a:rPr lang="en-US" b="1" dirty="0"/>
              <a:t>Compromising</a:t>
            </a:r>
            <a:r>
              <a:rPr lang="en-US" dirty="0"/>
              <a:t>. Each party to the conflict seeks to give up something to resolve the conflict.</a:t>
            </a:r>
          </a:p>
          <a:p>
            <a:endParaRPr lang="en-US" dirty="0"/>
          </a:p>
        </p:txBody>
      </p:sp>
    </p:spTree>
    <p:extLst>
      <p:ext uri="{BB962C8B-B14F-4D97-AF65-F5344CB8AC3E}">
        <p14:creationId xmlns:p14="http://schemas.microsoft.com/office/powerpoint/2010/main" val="6581942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B3BE4-C4AB-87E9-C359-BFD43262A528}"/>
              </a:ext>
            </a:extLst>
          </p:cNvPr>
          <p:cNvSpPr>
            <a:spLocks noGrp="1"/>
          </p:cNvSpPr>
          <p:nvPr>
            <p:ph type="title"/>
          </p:nvPr>
        </p:nvSpPr>
        <p:spPr/>
        <p:txBody>
          <a:bodyPr/>
          <a:lstStyle/>
          <a:p>
            <a:r>
              <a:rPr lang="en-US" b="1" dirty="0"/>
              <a:t>4. Behavior</a:t>
            </a:r>
          </a:p>
        </p:txBody>
      </p:sp>
      <p:sp>
        <p:nvSpPr>
          <p:cNvPr id="3" name="Content Placeholder 2">
            <a:extLst>
              <a:ext uri="{FF2B5EF4-FFF2-40B4-BE49-F238E27FC236}">
                <a16:creationId xmlns:a16="http://schemas.microsoft.com/office/drawing/2014/main" id="{9150D4BE-8DD8-BBA8-B239-0A29589097C3}"/>
              </a:ext>
            </a:extLst>
          </p:cNvPr>
          <p:cNvSpPr>
            <a:spLocks noGrp="1"/>
          </p:cNvSpPr>
          <p:nvPr>
            <p:ph idx="1"/>
          </p:nvPr>
        </p:nvSpPr>
        <p:spPr/>
        <p:txBody>
          <a:bodyPr/>
          <a:lstStyle/>
          <a:p>
            <a:pPr marL="0" indent="0">
              <a:buNone/>
            </a:pPr>
            <a:r>
              <a:rPr lang="en-US" dirty="0"/>
              <a:t>Behavior is the stage where conflict becomes evident, as it includes the statements, actions and reactions of the parties involved in the conflict. These behaviors might be overt attempts to get the other party to reveal intentions, but they have a stimulus quality that separates them from the actual intention stage. </a:t>
            </a:r>
          </a:p>
          <a:p>
            <a:pPr marL="0" indent="0">
              <a:buNone/>
            </a:pPr>
            <a:r>
              <a:rPr lang="en-US" dirty="0"/>
              <a:t>If the intensity is low, the conflict might just be a minor misunderstanding, and if the intensity is high, the conflict could be an effort to harm or even destroy the other party.</a:t>
            </a:r>
          </a:p>
        </p:txBody>
      </p:sp>
    </p:spTree>
    <p:extLst>
      <p:ext uri="{BB962C8B-B14F-4D97-AF65-F5344CB8AC3E}">
        <p14:creationId xmlns:p14="http://schemas.microsoft.com/office/powerpoint/2010/main" val="38923793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43C28-2F80-F24A-6FC8-B4D5A5ED9D2D}"/>
              </a:ext>
            </a:extLst>
          </p:cNvPr>
          <p:cNvSpPr>
            <a:spLocks noGrp="1"/>
          </p:cNvSpPr>
          <p:nvPr>
            <p:ph type="title"/>
          </p:nvPr>
        </p:nvSpPr>
        <p:spPr/>
        <p:txBody>
          <a:bodyPr/>
          <a:lstStyle/>
          <a:p>
            <a:r>
              <a:rPr lang="en-US" dirty="0"/>
              <a:t>5. Outcomes</a:t>
            </a:r>
          </a:p>
        </p:txBody>
      </p:sp>
      <p:sp>
        <p:nvSpPr>
          <p:cNvPr id="3" name="Content Placeholder 2">
            <a:extLst>
              <a:ext uri="{FF2B5EF4-FFF2-40B4-BE49-F238E27FC236}">
                <a16:creationId xmlns:a16="http://schemas.microsoft.com/office/drawing/2014/main" id="{585BB980-623A-77A9-2025-A8653234CD22}"/>
              </a:ext>
            </a:extLst>
          </p:cNvPr>
          <p:cNvSpPr>
            <a:spLocks noGrp="1"/>
          </p:cNvSpPr>
          <p:nvPr>
            <p:ph idx="1"/>
          </p:nvPr>
        </p:nvSpPr>
        <p:spPr/>
        <p:txBody>
          <a:bodyPr/>
          <a:lstStyle/>
          <a:p>
            <a:r>
              <a:rPr lang="en-US" b="1" dirty="0"/>
              <a:t>Outcomes  of a conflict can be either functional or dysfunctional</a:t>
            </a:r>
            <a:r>
              <a:rPr lang="en-US" dirty="0"/>
              <a:t>: Functional outcomes occur when conflict is constructive. It may be hard to think of times when people disagree and argue, and the outcome is somehow good. But think of conflict, for a moment, as the antidote to groupthink. If group members want consensus, they’re bound to all agree before all the viable alternatives have been reviewed. Conflict keeps that from happening.</a:t>
            </a:r>
          </a:p>
        </p:txBody>
      </p:sp>
    </p:spTree>
    <p:extLst>
      <p:ext uri="{BB962C8B-B14F-4D97-AF65-F5344CB8AC3E}">
        <p14:creationId xmlns:p14="http://schemas.microsoft.com/office/powerpoint/2010/main" val="26001028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1022D-24A5-7C83-ADF2-7E338BC071D2}"/>
              </a:ext>
            </a:extLst>
          </p:cNvPr>
          <p:cNvSpPr>
            <a:spLocks noGrp="1"/>
          </p:cNvSpPr>
          <p:nvPr>
            <p:ph type="title"/>
          </p:nvPr>
        </p:nvSpPr>
        <p:spPr/>
        <p:txBody>
          <a:bodyPr/>
          <a:lstStyle/>
          <a:p>
            <a:r>
              <a:rPr lang="en-US" dirty="0"/>
              <a:t>Dysfunctional outcomes</a:t>
            </a:r>
          </a:p>
        </p:txBody>
      </p:sp>
      <p:sp>
        <p:nvSpPr>
          <p:cNvPr id="3" name="Content Placeholder 2">
            <a:extLst>
              <a:ext uri="{FF2B5EF4-FFF2-40B4-BE49-F238E27FC236}">
                <a16:creationId xmlns:a16="http://schemas.microsoft.com/office/drawing/2014/main" id="{64F4A8A2-82B5-36A2-5EB6-804E18039E5E}"/>
              </a:ext>
            </a:extLst>
          </p:cNvPr>
          <p:cNvSpPr>
            <a:spLocks noGrp="1"/>
          </p:cNvSpPr>
          <p:nvPr>
            <p:ph idx="1"/>
          </p:nvPr>
        </p:nvSpPr>
        <p:spPr/>
        <p:txBody>
          <a:bodyPr/>
          <a:lstStyle/>
          <a:p>
            <a:r>
              <a:rPr lang="en-US" dirty="0"/>
              <a:t>Dysfunctional outcomes are generally more well known and understood. Uncontrolled opposition breeds discontent, which acts to sever ties and eventually leads to the dissolution of the group.</a:t>
            </a:r>
          </a:p>
        </p:txBody>
      </p:sp>
    </p:spTree>
    <p:extLst>
      <p:ext uri="{BB962C8B-B14F-4D97-AF65-F5344CB8AC3E}">
        <p14:creationId xmlns:p14="http://schemas.microsoft.com/office/powerpoint/2010/main" val="23849272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05D6A-2DA2-076A-A3FB-9D2A3F87442E}"/>
              </a:ext>
            </a:extLst>
          </p:cNvPr>
          <p:cNvSpPr>
            <a:spLocks noGrp="1"/>
          </p:cNvSpPr>
          <p:nvPr>
            <p:ph type="title"/>
          </p:nvPr>
        </p:nvSpPr>
        <p:spPr/>
        <p:txBody>
          <a:bodyPr/>
          <a:lstStyle/>
          <a:p>
            <a:r>
              <a:rPr lang="en-US" b="1" dirty="0"/>
              <a:t>Conflict Resolution:</a:t>
            </a:r>
          </a:p>
        </p:txBody>
      </p:sp>
      <p:sp>
        <p:nvSpPr>
          <p:cNvPr id="3" name="Content Placeholder 2">
            <a:extLst>
              <a:ext uri="{FF2B5EF4-FFF2-40B4-BE49-F238E27FC236}">
                <a16:creationId xmlns:a16="http://schemas.microsoft.com/office/drawing/2014/main" id="{812DEAE8-C8F8-9510-0C88-098595B1119D}"/>
              </a:ext>
            </a:extLst>
          </p:cNvPr>
          <p:cNvSpPr>
            <a:spLocks noGrp="1"/>
          </p:cNvSpPr>
          <p:nvPr>
            <p:ph idx="1"/>
          </p:nvPr>
        </p:nvSpPr>
        <p:spPr/>
        <p:txBody>
          <a:bodyPr/>
          <a:lstStyle/>
          <a:p>
            <a:pPr marL="0" indent="0">
              <a:buNone/>
            </a:pPr>
            <a:r>
              <a:rPr lang="en-US" dirty="0"/>
              <a:t>Conflict resolution is a way for opposing parties to find a peaceful solution to their disagreement that leaves all parties reasonably satisfied. Sometimes, the person who resolves a conflict may be a neutral party or mediator while at other times, they may be someone involved in the conflict who takes an outside perspective to find a solution.</a:t>
            </a:r>
          </a:p>
        </p:txBody>
      </p:sp>
    </p:spTree>
    <p:extLst>
      <p:ext uri="{BB962C8B-B14F-4D97-AF65-F5344CB8AC3E}">
        <p14:creationId xmlns:p14="http://schemas.microsoft.com/office/powerpoint/2010/main" val="1145171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4E2C3-3CC3-668F-CF5E-4473562B8522}"/>
              </a:ext>
            </a:extLst>
          </p:cNvPr>
          <p:cNvSpPr>
            <a:spLocks noGrp="1"/>
          </p:cNvSpPr>
          <p:nvPr>
            <p:ph type="title"/>
          </p:nvPr>
        </p:nvSpPr>
        <p:spPr/>
        <p:txBody>
          <a:bodyPr/>
          <a:lstStyle/>
          <a:p>
            <a:r>
              <a:rPr lang="en-US" b="1" dirty="0"/>
              <a:t>Conflict resolution strategies:</a:t>
            </a:r>
          </a:p>
        </p:txBody>
      </p:sp>
      <p:sp>
        <p:nvSpPr>
          <p:cNvPr id="3" name="Content Placeholder 2">
            <a:extLst>
              <a:ext uri="{FF2B5EF4-FFF2-40B4-BE49-F238E27FC236}">
                <a16:creationId xmlns:a16="http://schemas.microsoft.com/office/drawing/2014/main" id="{8301364A-4EAD-02BA-3DA7-9958F7D87475}"/>
              </a:ext>
            </a:extLst>
          </p:cNvPr>
          <p:cNvSpPr>
            <a:spLocks noGrp="1"/>
          </p:cNvSpPr>
          <p:nvPr>
            <p:ph idx="1"/>
          </p:nvPr>
        </p:nvSpPr>
        <p:spPr/>
        <p:txBody>
          <a:bodyPr/>
          <a:lstStyle/>
          <a:p>
            <a:r>
              <a:rPr lang="en-US" dirty="0"/>
              <a:t>There are five common strategies or methods to resolve conflicts in the workplace: </a:t>
            </a:r>
          </a:p>
          <a:p>
            <a:r>
              <a:rPr lang="en-US" dirty="0"/>
              <a:t>1. Accommodating</a:t>
            </a:r>
          </a:p>
          <a:p>
            <a:r>
              <a:rPr lang="en-US" dirty="0"/>
              <a:t>2. Avoiding</a:t>
            </a:r>
          </a:p>
          <a:p>
            <a:r>
              <a:rPr lang="en-US" dirty="0"/>
              <a:t>3. Compromising</a:t>
            </a:r>
          </a:p>
          <a:p>
            <a:r>
              <a:rPr lang="en-US" dirty="0"/>
              <a:t>4. Collaborating</a:t>
            </a:r>
          </a:p>
          <a:p>
            <a:r>
              <a:rPr lang="en-US" dirty="0"/>
              <a:t>5. Competing</a:t>
            </a:r>
          </a:p>
        </p:txBody>
      </p:sp>
    </p:spTree>
    <p:extLst>
      <p:ext uri="{BB962C8B-B14F-4D97-AF65-F5344CB8AC3E}">
        <p14:creationId xmlns:p14="http://schemas.microsoft.com/office/powerpoint/2010/main" val="23363082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2304</Words>
  <Application>Microsoft Office PowerPoint</Application>
  <PresentationFormat>Widescreen</PresentationFormat>
  <Paragraphs>141</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Calibri Light</vt:lpstr>
      <vt:lpstr>Office Theme</vt:lpstr>
      <vt:lpstr>Group Behaviour</vt:lpstr>
      <vt:lpstr>Definition</vt:lpstr>
      <vt:lpstr>Types of Groups:</vt:lpstr>
      <vt:lpstr>Types of Groups</vt:lpstr>
      <vt:lpstr>Continue………</vt:lpstr>
      <vt:lpstr>Continue………</vt:lpstr>
      <vt:lpstr>Continue……..</vt:lpstr>
      <vt:lpstr>Continue……</vt:lpstr>
      <vt:lpstr>Continue…..</vt:lpstr>
      <vt:lpstr>Formation of groups:</vt:lpstr>
      <vt:lpstr>Defining</vt:lpstr>
      <vt:lpstr>Continue………..</vt:lpstr>
      <vt:lpstr>Continue…..</vt:lpstr>
      <vt:lpstr>Continue……</vt:lpstr>
      <vt:lpstr>Continue……..</vt:lpstr>
      <vt:lpstr>Building effective teams: </vt:lpstr>
      <vt:lpstr>Continue…</vt:lpstr>
      <vt:lpstr>Continue….</vt:lpstr>
      <vt:lpstr>Conflict:</vt:lpstr>
      <vt:lpstr>Nature</vt:lpstr>
      <vt:lpstr>Types of Conflict:</vt:lpstr>
      <vt:lpstr>Continue….</vt:lpstr>
      <vt:lpstr>PowerPoint Presentation</vt:lpstr>
      <vt:lpstr>PowerPoint Presentation</vt:lpstr>
      <vt:lpstr>PowerPoint Presentation</vt:lpstr>
      <vt:lpstr>How conflict arises???</vt:lpstr>
      <vt:lpstr>PowerPoint Presentation</vt:lpstr>
      <vt:lpstr>PowerPoint Presentation</vt:lpstr>
      <vt:lpstr>PowerPoint Presentation</vt:lpstr>
      <vt:lpstr>PowerPoint Presentation</vt:lpstr>
      <vt:lpstr>2. Cognition and Personalization</vt:lpstr>
      <vt:lpstr>3. Intentions</vt:lpstr>
      <vt:lpstr>PowerPoint Presentation</vt:lpstr>
      <vt:lpstr>4. Behavior</vt:lpstr>
      <vt:lpstr>5. Outcomes</vt:lpstr>
      <vt:lpstr>Dysfunctional outcomes</vt:lpstr>
      <vt:lpstr>Conflict Resolution:</vt:lpstr>
      <vt:lpstr>Conflict resolution strategies: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Sidra ..</dc:creator>
  <cp:lastModifiedBy>Sidra ..</cp:lastModifiedBy>
  <cp:revision>48</cp:revision>
  <dcterms:created xsi:type="dcterms:W3CDTF">2026-04-22T03:23:27Z</dcterms:created>
  <dcterms:modified xsi:type="dcterms:W3CDTF">2026-04-22T04:39:20Z</dcterms:modified>
</cp:coreProperties>
</file>