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0" autoAdjust="0"/>
    <p:restoredTop sz="94660"/>
  </p:normalViewPr>
  <p:slideViewPr>
    <p:cSldViewPr snapToGrid="0">
      <p:cViewPr varScale="1">
        <p:scale>
          <a:sx n="67" d="100"/>
          <a:sy n="67" d="100"/>
        </p:scale>
        <p:origin x="640"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CCAE8-F83C-4631-8F85-7DD8AF86B53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08B9C4C-D134-41EC-B6BA-2BF7100C984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A485E13-63D9-4BCE-B753-ACC28E996954}"/>
              </a:ext>
            </a:extLst>
          </p:cNvPr>
          <p:cNvSpPr>
            <a:spLocks noGrp="1"/>
          </p:cNvSpPr>
          <p:nvPr>
            <p:ph type="dt" sz="half" idx="10"/>
          </p:nvPr>
        </p:nvSpPr>
        <p:spPr/>
        <p:txBody>
          <a:bodyPr/>
          <a:lstStyle/>
          <a:p>
            <a:fld id="{C3B04666-01B3-4D42-BEBE-ED36CFE70BF3}" type="datetimeFigureOut">
              <a:rPr lang="en-US" smtClean="0"/>
              <a:t>3/17/2026</a:t>
            </a:fld>
            <a:endParaRPr lang="en-US"/>
          </a:p>
        </p:txBody>
      </p:sp>
      <p:sp>
        <p:nvSpPr>
          <p:cNvPr id="5" name="Footer Placeholder 4">
            <a:extLst>
              <a:ext uri="{FF2B5EF4-FFF2-40B4-BE49-F238E27FC236}">
                <a16:creationId xmlns:a16="http://schemas.microsoft.com/office/drawing/2014/main" id="{226392DB-96A2-412C-AD35-84C9C513EA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4AC780-B1B5-479C-B174-F3065121CE71}"/>
              </a:ext>
            </a:extLst>
          </p:cNvPr>
          <p:cNvSpPr>
            <a:spLocks noGrp="1"/>
          </p:cNvSpPr>
          <p:nvPr>
            <p:ph type="sldNum" sz="quarter" idx="12"/>
          </p:nvPr>
        </p:nvSpPr>
        <p:spPr/>
        <p:txBody>
          <a:bodyPr/>
          <a:lstStyle/>
          <a:p>
            <a:fld id="{17D5E163-6322-44DD-901A-21713C99442E}" type="slidenum">
              <a:rPr lang="en-US" smtClean="0"/>
              <a:t>‹#›</a:t>
            </a:fld>
            <a:endParaRPr lang="en-US"/>
          </a:p>
        </p:txBody>
      </p:sp>
    </p:spTree>
    <p:extLst>
      <p:ext uri="{BB962C8B-B14F-4D97-AF65-F5344CB8AC3E}">
        <p14:creationId xmlns:p14="http://schemas.microsoft.com/office/powerpoint/2010/main" val="10318410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AD0A3-38AC-41BA-8508-48791F08E0D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574FC03-C642-43D5-8380-267E17DF950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8A13B9-E192-43B7-AAAF-B09CA1C39421}"/>
              </a:ext>
            </a:extLst>
          </p:cNvPr>
          <p:cNvSpPr>
            <a:spLocks noGrp="1"/>
          </p:cNvSpPr>
          <p:nvPr>
            <p:ph type="dt" sz="half" idx="10"/>
          </p:nvPr>
        </p:nvSpPr>
        <p:spPr/>
        <p:txBody>
          <a:bodyPr/>
          <a:lstStyle/>
          <a:p>
            <a:fld id="{C3B04666-01B3-4D42-BEBE-ED36CFE70BF3}" type="datetimeFigureOut">
              <a:rPr lang="en-US" smtClean="0"/>
              <a:t>3/17/2026</a:t>
            </a:fld>
            <a:endParaRPr lang="en-US"/>
          </a:p>
        </p:txBody>
      </p:sp>
      <p:sp>
        <p:nvSpPr>
          <p:cNvPr id="5" name="Footer Placeholder 4">
            <a:extLst>
              <a:ext uri="{FF2B5EF4-FFF2-40B4-BE49-F238E27FC236}">
                <a16:creationId xmlns:a16="http://schemas.microsoft.com/office/drawing/2014/main" id="{F04A4686-CE83-4C12-9FF0-6090159639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DDC2BC-8AB7-4623-A7E7-C5BE31D6CE71}"/>
              </a:ext>
            </a:extLst>
          </p:cNvPr>
          <p:cNvSpPr>
            <a:spLocks noGrp="1"/>
          </p:cNvSpPr>
          <p:nvPr>
            <p:ph type="sldNum" sz="quarter" idx="12"/>
          </p:nvPr>
        </p:nvSpPr>
        <p:spPr/>
        <p:txBody>
          <a:bodyPr/>
          <a:lstStyle/>
          <a:p>
            <a:fld id="{17D5E163-6322-44DD-901A-21713C99442E}" type="slidenum">
              <a:rPr lang="en-US" smtClean="0"/>
              <a:t>‹#›</a:t>
            </a:fld>
            <a:endParaRPr lang="en-US"/>
          </a:p>
        </p:txBody>
      </p:sp>
    </p:spTree>
    <p:extLst>
      <p:ext uri="{BB962C8B-B14F-4D97-AF65-F5344CB8AC3E}">
        <p14:creationId xmlns:p14="http://schemas.microsoft.com/office/powerpoint/2010/main" val="40364268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C14B5-EED7-4806-B817-6FC1F5EBE5A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7A0B95D-1E5D-46EC-96AA-AD131D10DAE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FDCD767-EAC2-44F4-B356-5EAB3054FD85}"/>
              </a:ext>
            </a:extLst>
          </p:cNvPr>
          <p:cNvSpPr>
            <a:spLocks noGrp="1"/>
          </p:cNvSpPr>
          <p:nvPr>
            <p:ph type="dt" sz="half" idx="10"/>
          </p:nvPr>
        </p:nvSpPr>
        <p:spPr/>
        <p:txBody>
          <a:bodyPr/>
          <a:lstStyle/>
          <a:p>
            <a:fld id="{C3B04666-01B3-4D42-BEBE-ED36CFE70BF3}" type="datetimeFigureOut">
              <a:rPr lang="en-US" smtClean="0"/>
              <a:t>3/17/2026</a:t>
            </a:fld>
            <a:endParaRPr lang="en-US"/>
          </a:p>
        </p:txBody>
      </p:sp>
      <p:sp>
        <p:nvSpPr>
          <p:cNvPr id="5" name="Footer Placeholder 4">
            <a:extLst>
              <a:ext uri="{FF2B5EF4-FFF2-40B4-BE49-F238E27FC236}">
                <a16:creationId xmlns:a16="http://schemas.microsoft.com/office/drawing/2014/main" id="{14E8B75B-18CF-4539-9129-C083EFD8BB2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0AB9B1-B9D1-4D97-B8ED-B2CCA7CE36A3}"/>
              </a:ext>
            </a:extLst>
          </p:cNvPr>
          <p:cNvSpPr>
            <a:spLocks noGrp="1"/>
          </p:cNvSpPr>
          <p:nvPr>
            <p:ph type="sldNum" sz="quarter" idx="12"/>
          </p:nvPr>
        </p:nvSpPr>
        <p:spPr/>
        <p:txBody>
          <a:bodyPr/>
          <a:lstStyle/>
          <a:p>
            <a:fld id="{17D5E163-6322-44DD-901A-21713C99442E}" type="slidenum">
              <a:rPr lang="en-US" smtClean="0"/>
              <a:t>‹#›</a:t>
            </a:fld>
            <a:endParaRPr lang="en-US"/>
          </a:p>
        </p:txBody>
      </p:sp>
    </p:spTree>
    <p:extLst>
      <p:ext uri="{BB962C8B-B14F-4D97-AF65-F5344CB8AC3E}">
        <p14:creationId xmlns:p14="http://schemas.microsoft.com/office/powerpoint/2010/main" val="33026202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C5164-31EE-4F15-85A3-9C4B5796F27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5E20196-1AC9-49F5-9BC8-0C5F44AB1FB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52C3002-FA7A-414E-83ED-B517A28E690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FBDB83A-AA4D-408E-872C-20FF416C8069}"/>
              </a:ext>
            </a:extLst>
          </p:cNvPr>
          <p:cNvSpPr>
            <a:spLocks noGrp="1"/>
          </p:cNvSpPr>
          <p:nvPr>
            <p:ph type="dt" sz="half" idx="10"/>
          </p:nvPr>
        </p:nvSpPr>
        <p:spPr/>
        <p:txBody>
          <a:bodyPr/>
          <a:lstStyle/>
          <a:p>
            <a:fld id="{C3B04666-01B3-4D42-BEBE-ED36CFE70BF3}" type="datetimeFigureOut">
              <a:rPr lang="en-US" smtClean="0"/>
              <a:t>3/17/2026</a:t>
            </a:fld>
            <a:endParaRPr lang="en-US"/>
          </a:p>
        </p:txBody>
      </p:sp>
      <p:sp>
        <p:nvSpPr>
          <p:cNvPr id="6" name="Footer Placeholder 5">
            <a:extLst>
              <a:ext uri="{FF2B5EF4-FFF2-40B4-BE49-F238E27FC236}">
                <a16:creationId xmlns:a16="http://schemas.microsoft.com/office/drawing/2014/main" id="{E50969AA-FA73-4223-842E-32787C703AB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E69B50C-2141-4694-8B2F-C710118BC383}"/>
              </a:ext>
            </a:extLst>
          </p:cNvPr>
          <p:cNvSpPr>
            <a:spLocks noGrp="1"/>
          </p:cNvSpPr>
          <p:nvPr>
            <p:ph type="sldNum" sz="quarter" idx="12"/>
          </p:nvPr>
        </p:nvSpPr>
        <p:spPr/>
        <p:txBody>
          <a:bodyPr/>
          <a:lstStyle/>
          <a:p>
            <a:fld id="{17D5E163-6322-44DD-901A-21713C99442E}" type="slidenum">
              <a:rPr lang="en-US" smtClean="0"/>
              <a:t>‹#›</a:t>
            </a:fld>
            <a:endParaRPr lang="en-US"/>
          </a:p>
        </p:txBody>
      </p:sp>
    </p:spTree>
    <p:extLst>
      <p:ext uri="{BB962C8B-B14F-4D97-AF65-F5344CB8AC3E}">
        <p14:creationId xmlns:p14="http://schemas.microsoft.com/office/powerpoint/2010/main" val="18031477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92220-630B-4804-8197-9BCF3D06776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3C778AE-75AC-4129-96CB-746530B36FC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EED410D-215D-463B-8C14-75C7B2A5752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FBE8B28-CA56-49E2-8114-BE02BACA5A5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8C3FC43-0A72-405A-8F7D-68E4330ED88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413890B-91D5-4F3F-9489-31A55B7F0783}"/>
              </a:ext>
            </a:extLst>
          </p:cNvPr>
          <p:cNvSpPr>
            <a:spLocks noGrp="1"/>
          </p:cNvSpPr>
          <p:nvPr>
            <p:ph type="dt" sz="half" idx="10"/>
          </p:nvPr>
        </p:nvSpPr>
        <p:spPr/>
        <p:txBody>
          <a:bodyPr/>
          <a:lstStyle/>
          <a:p>
            <a:fld id="{C3B04666-01B3-4D42-BEBE-ED36CFE70BF3}" type="datetimeFigureOut">
              <a:rPr lang="en-US" smtClean="0"/>
              <a:t>3/17/2026</a:t>
            </a:fld>
            <a:endParaRPr lang="en-US"/>
          </a:p>
        </p:txBody>
      </p:sp>
      <p:sp>
        <p:nvSpPr>
          <p:cNvPr id="8" name="Footer Placeholder 7">
            <a:extLst>
              <a:ext uri="{FF2B5EF4-FFF2-40B4-BE49-F238E27FC236}">
                <a16:creationId xmlns:a16="http://schemas.microsoft.com/office/drawing/2014/main" id="{2D64AD1E-CD3A-46C6-A84E-DDD6C90D284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D2EDA22-77A2-426E-81D0-F8A796CC4CBB}"/>
              </a:ext>
            </a:extLst>
          </p:cNvPr>
          <p:cNvSpPr>
            <a:spLocks noGrp="1"/>
          </p:cNvSpPr>
          <p:nvPr>
            <p:ph type="sldNum" sz="quarter" idx="12"/>
          </p:nvPr>
        </p:nvSpPr>
        <p:spPr/>
        <p:txBody>
          <a:bodyPr/>
          <a:lstStyle/>
          <a:p>
            <a:fld id="{17D5E163-6322-44DD-901A-21713C99442E}" type="slidenum">
              <a:rPr lang="en-US" smtClean="0"/>
              <a:t>‹#›</a:t>
            </a:fld>
            <a:endParaRPr lang="en-US"/>
          </a:p>
        </p:txBody>
      </p:sp>
    </p:spTree>
    <p:extLst>
      <p:ext uri="{BB962C8B-B14F-4D97-AF65-F5344CB8AC3E}">
        <p14:creationId xmlns:p14="http://schemas.microsoft.com/office/powerpoint/2010/main" val="29700524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D047E1-1614-4D8E-AE4F-54275CF6606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54CA76C-08AD-47E8-B5BF-C5D83801BE62}"/>
              </a:ext>
            </a:extLst>
          </p:cNvPr>
          <p:cNvSpPr>
            <a:spLocks noGrp="1"/>
          </p:cNvSpPr>
          <p:nvPr>
            <p:ph type="dt" sz="half" idx="10"/>
          </p:nvPr>
        </p:nvSpPr>
        <p:spPr/>
        <p:txBody>
          <a:bodyPr/>
          <a:lstStyle/>
          <a:p>
            <a:fld id="{C3B04666-01B3-4D42-BEBE-ED36CFE70BF3}" type="datetimeFigureOut">
              <a:rPr lang="en-US" smtClean="0"/>
              <a:t>3/17/2026</a:t>
            </a:fld>
            <a:endParaRPr lang="en-US"/>
          </a:p>
        </p:txBody>
      </p:sp>
      <p:sp>
        <p:nvSpPr>
          <p:cNvPr id="4" name="Footer Placeholder 3">
            <a:extLst>
              <a:ext uri="{FF2B5EF4-FFF2-40B4-BE49-F238E27FC236}">
                <a16:creationId xmlns:a16="http://schemas.microsoft.com/office/drawing/2014/main" id="{47F23885-CD92-437A-A1DB-97BB3EF4A3E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2AE3565-F9D7-49B6-B021-46D641BE8DC9}"/>
              </a:ext>
            </a:extLst>
          </p:cNvPr>
          <p:cNvSpPr>
            <a:spLocks noGrp="1"/>
          </p:cNvSpPr>
          <p:nvPr>
            <p:ph type="sldNum" sz="quarter" idx="12"/>
          </p:nvPr>
        </p:nvSpPr>
        <p:spPr/>
        <p:txBody>
          <a:bodyPr/>
          <a:lstStyle/>
          <a:p>
            <a:fld id="{17D5E163-6322-44DD-901A-21713C99442E}" type="slidenum">
              <a:rPr lang="en-US" smtClean="0"/>
              <a:t>‹#›</a:t>
            </a:fld>
            <a:endParaRPr lang="en-US"/>
          </a:p>
        </p:txBody>
      </p:sp>
    </p:spTree>
    <p:extLst>
      <p:ext uri="{BB962C8B-B14F-4D97-AF65-F5344CB8AC3E}">
        <p14:creationId xmlns:p14="http://schemas.microsoft.com/office/powerpoint/2010/main" val="5071001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C809CF1-8F31-41B8-BB3A-D073B910408B}"/>
              </a:ext>
            </a:extLst>
          </p:cNvPr>
          <p:cNvSpPr>
            <a:spLocks noGrp="1"/>
          </p:cNvSpPr>
          <p:nvPr>
            <p:ph type="dt" sz="half" idx="10"/>
          </p:nvPr>
        </p:nvSpPr>
        <p:spPr/>
        <p:txBody>
          <a:bodyPr/>
          <a:lstStyle/>
          <a:p>
            <a:fld id="{C3B04666-01B3-4D42-BEBE-ED36CFE70BF3}" type="datetimeFigureOut">
              <a:rPr lang="en-US" smtClean="0"/>
              <a:t>3/17/2026</a:t>
            </a:fld>
            <a:endParaRPr lang="en-US"/>
          </a:p>
        </p:txBody>
      </p:sp>
      <p:sp>
        <p:nvSpPr>
          <p:cNvPr id="3" name="Footer Placeholder 2">
            <a:extLst>
              <a:ext uri="{FF2B5EF4-FFF2-40B4-BE49-F238E27FC236}">
                <a16:creationId xmlns:a16="http://schemas.microsoft.com/office/drawing/2014/main" id="{FE9E06E9-F583-4467-ADFB-28A14725C47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0EB189F-480F-4E37-9235-138811625225}"/>
              </a:ext>
            </a:extLst>
          </p:cNvPr>
          <p:cNvSpPr>
            <a:spLocks noGrp="1"/>
          </p:cNvSpPr>
          <p:nvPr>
            <p:ph type="sldNum" sz="quarter" idx="12"/>
          </p:nvPr>
        </p:nvSpPr>
        <p:spPr/>
        <p:txBody>
          <a:bodyPr/>
          <a:lstStyle/>
          <a:p>
            <a:fld id="{17D5E163-6322-44DD-901A-21713C99442E}" type="slidenum">
              <a:rPr lang="en-US" smtClean="0"/>
              <a:t>‹#›</a:t>
            </a:fld>
            <a:endParaRPr lang="en-US"/>
          </a:p>
        </p:txBody>
      </p:sp>
    </p:spTree>
    <p:extLst>
      <p:ext uri="{BB962C8B-B14F-4D97-AF65-F5344CB8AC3E}">
        <p14:creationId xmlns:p14="http://schemas.microsoft.com/office/powerpoint/2010/main" val="25573066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7A195-A689-414A-ACF5-B5931AABDC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82B71A4-0F73-4DC9-95AA-75945B1F788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0CC778D-16E1-418C-865D-D52C7747D3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D702040-E20D-45C2-B632-4EAD9F5EE9A3}"/>
              </a:ext>
            </a:extLst>
          </p:cNvPr>
          <p:cNvSpPr>
            <a:spLocks noGrp="1"/>
          </p:cNvSpPr>
          <p:nvPr>
            <p:ph type="dt" sz="half" idx="10"/>
          </p:nvPr>
        </p:nvSpPr>
        <p:spPr/>
        <p:txBody>
          <a:bodyPr/>
          <a:lstStyle/>
          <a:p>
            <a:fld id="{C3B04666-01B3-4D42-BEBE-ED36CFE70BF3}" type="datetimeFigureOut">
              <a:rPr lang="en-US" smtClean="0"/>
              <a:t>3/17/2026</a:t>
            </a:fld>
            <a:endParaRPr lang="en-US"/>
          </a:p>
        </p:txBody>
      </p:sp>
      <p:sp>
        <p:nvSpPr>
          <p:cNvPr id="6" name="Footer Placeholder 5">
            <a:extLst>
              <a:ext uri="{FF2B5EF4-FFF2-40B4-BE49-F238E27FC236}">
                <a16:creationId xmlns:a16="http://schemas.microsoft.com/office/drawing/2014/main" id="{D56E6201-3F0F-4D0D-ACC3-B147D737618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82F2565-79BF-46D2-A666-DC89DF466D19}"/>
              </a:ext>
            </a:extLst>
          </p:cNvPr>
          <p:cNvSpPr>
            <a:spLocks noGrp="1"/>
          </p:cNvSpPr>
          <p:nvPr>
            <p:ph type="sldNum" sz="quarter" idx="12"/>
          </p:nvPr>
        </p:nvSpPr>
        <p:spPr/>
        <p:txBody>
          <a:bodyPr/>
          <a:lstStyle/>
          <a:p>
            <a:fld id="{17D5E163-6322-44DD-901A-21713C99442E}" type="slidenum">
              <a:rPr lang="en-US" smtClean="0"/>
              <a:t>‹#›</a:t>
            </a:fld>
            <a:endParaRPr lang="en-US"/>
          </a:p>
        </p:txBody>
      </p:sp>
    </p:spTree>
    <p:extLst>
      <p:ext uri="{BB962C8B-B14F-4D97-AF65-F5344CB8AC3E}">
        <p14:creationId xmlns:p14="http://schemas.microsoft.com/office/powerpoint/2010/main" val="31711628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F2BA23-58B5-4131-8961-0472898DEF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4968878-93AA-48EF-992C-A86AD98A3F4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ABE2C0D-DBA0-41D6-8278-5FF44F6454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BAE45CD-30B9-41A8-B45F-6F9D223B81FE}"/>
              </a:ext>
            </a:extLst>
          </p:cNvPr>
          <p:cNvSpPr>
            <a:spLocks noGrp="1"/>
          </p:cNvSpPr>
          <p:nvPr>
            <p:ph type="dt" sz="half" idx="10"/>
          </p:nvPr>
        </p:nvSpPr>
        <p:spPr/>
        <p:txBody>
          <a:bodyPr/>
          <a:lstStyle/>
          <a:p>
            <a:fld id="{C3B04666-01B3-4D42-BEBE-ED36CFE70BF3}" type="datetimeFigureOut">
              <a:rPr lang="en-US" smtClean="0"/>
              <a:t>3/17/2026</a:t>
            </a:fld>
            <a:endParaRPr lang="en-US"/>
          </a:p>
        </p:txBody>
      </p:sp>
      <p:sp>
        <p:nvSpPr>
          <p:cNvPr id="6" name="Footer Placeholder 5">
            <a:extLst>
              <a:ext uri="{FF2B5EF4-FFF2-40B4-BE49-F238E27FC236}">
                <a16:creationId xmlns:a16="http://schemas.microsoft.com/office/drawing/2014/main" id="{7C3F87CA-708A-4E84-BD58-CA22BE27A71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82339CE-25BD-490C-85E0-A1BF2F66C715}"/>
              </a:ext>
            </a:extLst>
          </p:cNvPr>
          <p:cNvSpPr>
            <a:spLocks noGrp="1"/>
          </p:cNvSpPr>
          <p:nvPr>
            <p:ph type="sldNum" sz="quarter" idx="12"/>
          </p:nvPr>
        </p:nvSpPr>
        <p:spPr/>
        <p:txBody>
          <a:bodyPr/>
          <a:lstStyle/>
          <a:p>
            <a:fld id="{17D5E163-6322-44DD-901A-21713C99442E}" type="slidenum">
              <a:rPr lang="en-US" smtClean="0"/>
              <a:t>‹#›</a:t>
            </a:fld>
            <a:endParaRPr lang="en-US"/>
          </a:p>
        </p:txBody>
      </p:sp>
    </p:spTree>
    <p:extLst>
      <p:ext uri="{BB962C8B-B14F-4D97-AF65-F5344CB8AC3E}">
        <p14:creationId xmlns:p14="http://schemas.microsoft.com/office/powerpoint/2010/main" val="37921201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9335E-86CE-42B3-9000-79C4BBAAB53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E19F6D1-0613-4716-90B2-7DCBAF1E917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5711A02-7CA9-431A-920F-15ADDF5C0C97}"/>
              </a:ext>
            </a:extLst>
          </p:cNvPr>
          <p:cNvSpPr>
            <a:spLocks noGrp="1"/>
          </p:cNvSpPr>
          <p:nvPr>
            <p:ph type="dt" sz="half" idx="10"/>
          </p:nvPr>
        </p:nvSpPr>
        <p:spPr/>
        <p:txBody>
          <a:bodyPr/>
          <a:lstStyle/>
          <a:p>
            <a:fld id="{C3B04666-01B3-4D42-BEBE-ED36CFE70BF3}" type="datetimeFigureOut">
              <a:rPr lang="en-US" smtClean="0"/>
              <a:t>3/17/2026</a:t>
            </a:fld>
            <a:endParaRPr lang="en-US"/>
          </a:p>
        </p:txBody>
      </p:sp>
      <p:sp>
        <p:nvSpPr>
          <p:cNvPr id="5" name="Footer Placeholder 4">
            <a:extLst>
              <a:ext uri="{FF2B5EF4-FFF2-40B4-BE49-F238E27FC236}">
                <a16:creationId xmlns:a16="http://schemas.microsoft.com/office/drawing/2014/main" id="{23F0C4BF-BB87-4AE3-96C9-794224F111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667E4F-A727-4DA3-BA72-6B5F6A8F80E1}"/>
              </a:ext>
            </a:extLst>
          </p:cNvPr>
          <p:cNvSpPr>
            <a:spLocks noGrp="1"/>
          </p:cNvSpPr>
          <p:nvPr>
            <p:ph type="sldNum" sz="quarter" idx="12"/>
          </p:nvPr>
        </p:nvSpPr>
        <p:spPr/>
        <p:txBody>
          <a:bodyPr/>
          <a:lstStyle/>
          <a:p>
            <a:fld id="{17D5E163-6322-44DD-901A-21713C99442E}" type="slidenum">
              <a:rPr lang="en-US" smtClean="0"/>
              <a:t>‹#›</a:t>
            </a:fld>
            <a:endParaRPr lang="en-US"/>
          </a:p>
        </p:txBody>
      </p:sp>
    </p:spTree>
    <p:extLst>
      <p:ext uri="{BB962C8B-B14F-4D97-AF65-F5344CB8AC3E}">
        <p14:creationId xmlns:p14="http://schemas.microsoft.com/office/powerpoint/2010/main" val="40292078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1492154-4B44-43A2-890C-2F83E3513FC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10535BE-276B-4115-A081-6FEF739812B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A4DFCF-8022-4636-B80E-5563C113A60C}"/>
              </a:ext>
            </a:extLst>
          </p:cNvPr>
          <p:cNvSpPr>
            <a:spLocks noGrp="1"/>
          </p:cNvSpPr>
          <p:nvPr>
            <p:ph type="dt" sz="half" idx="10"/>
          </p:nvPr>
        </p:nvSpPr>
        <p:spPr/>
        <p:txBody>
          <a:bodyPr/>
          <a:lstStyle/>
          <a:p>
            <a:fld id="{C3B04666-01B3-4D42-BEBE-ED36CFE70BF3}" type="datetimeFigureOut">
              <a:rPr lang="en-US" smtClean="0"/>
              <a:t>3/17/2026</a:t>
            </a:fld>
            <a:endParaRPr lang="en-US"/>
          </a:p>
        </p:txBody>
      </p:sp>
      <p:sp>
        <p:nvSpPr>
          <p:cNvPr id="5" name="Footer Placeholder 4">
            <a:extLst>
              <a:ext uri="{FF2B5EF4-FFF2-40B4-BE49-F238E27FC236}">
                <a16:creationId xmlns:a16="http://schemas.microsoft.com/office/drawing/2014/main" id="{492092A7-6B61-41B8-AE49-9911E47F8E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2154D3-01C5-4A2B-AE4E-C581639231B8}"/>
              </a:ext>
            </a:extLst>
          </p:cNvPr>
          <p:cNvSpPr>
            <a:spLocks noGrp="1"/>
          </p:cNvSpPr>
          <p:nvPr>
            <p:ph type="sldNum" sz="quarter" idx="12"/>
          </p:nvPr>
        </p:nvSpPr>
        <p:spPr/>
        <p:txBody>
          <a:bodyPr/>
          <a:lstStyle/>
          <a:p>
            <a:fld id="{17D5E163-6322-44DD-901A-21713C99442E}" type="slidenum">
              <a:rPr lang="en-US" smtClean="0"/>
              <a:t>‹#›</a:t>
            </a:fld>
            <a:endParaRPr lang="en-US"/>
          </a:p>
        </p:txBody>
      </p:sp>
    </p:spTree>
    <p:extLst>
      <p:ext uri="{BB962C8B-B14F-4D97-AF65-F5344CB8AC3E}">
        <p14:creationId xmlns:p14="http://schemas.microsoft.com/office/powerpoint/2010/main" val="41338013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EA617F5-C1A4-4D5A-A9E8-660BD5DDF3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D59D6BA-3E13-4DE6-8B60-647F0E0A98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4B34CEB-FBCE-431D-B148-FA75994BE31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3B04666-01B3-4D42-BEBE-ED36CFE70BF3}" type="datetimeFigureOut">
              <a:rPr lang="en-US" smtClean="0"/>
              <a:t>3/17/2026</a:t>
            </a:fld>
            <a:endParaRPr lang="en-US"/>
          </a:p>
        </p:txBody>
      </p:sp>
      <p:sp>
        <p:nvSpPr>
          <p:cNvPr id="5" name="Footer Placeholder 4">
            <a:extLst>
              <a:ext uri="{FF2B5EF4-FFF2-40B4-BE49-F238E27FC236}">
                <a16:creationId xmlns:a16="http://schemas.microsoft.com/office/drawing/2014/main" id="{DEF5E916-56EF-4D4B-B604-FC06E66A2E3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9384125-92A9-4838-AF07-66C2D5976C0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7D5E163-6322-44DD-901A-21713C99442E}" type="slidenum">
              <a:rPr lang="en-US" smtClean="0"/>
              <a:t>‹#›</a:t>
            </a:fld>
            <a:endParaRPr lang="en-US"/>
          </a:p>
        </p:txBody>
      </p:sp>
    </p:spTree>
    <p:extLst>
      <p:ext uri="{BB962C8B-B14F-4D97-AF65-F5344CB8AC3E}">
        <p14:creationId xmlns:p14="http://schemas.microsoft.com/office/powerpoint/2010/main" val="20281856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843D9A-EB86-46A0-908A-FA85EE8C76A8}"/>
              </a:ext>
            </a:extLst>
          </p:cNvPr>
          <p:cNvSpPr>
            <a:spLocks noGrp="1"/>
          </p:cNvSpPr>
          <p:nvPr>
            <p:ph type="ctrTitle"/>
          </p:nvPr>
        </p:nvSpPr>
        <p:spPr/>
        <p:txBody>
          <a:bodyPr/>
          <a:lstStyle/>
          <a:p>
            <a:r>
              <a:rPr lang="en-US" dirty="0"/>
              <a:t>Lecture </a:t>
            </a:r>
          </a:p>
        </p:txBody>
      </p:sp>
      <p:sp>
        <p:nvSpPr>
          <p:cNvPr id="3" name="Subtitle 2">
            <a:extLst>
              <a:ext uri="{FF2B5EF4-FFF2-40B4-BE49-F238E27FC236}">
                <a16:creationId xmlns:a16="http://schemas.microsoft.com/office/drawing/2014/main" id="{0AB2FC89-3C4A-4E2B-86CA-304EE9EB28C7}"/>
              </a:ext>
            </a:extLst>
          </p:cNvPr>
          <p:cNvSpPr>
            <a:spLocks noGrp="1"/>
          </p:cNvSpPr>
          <p:nvPr>
            <p:ph type="subTitle" idx="1"/>
          </p:nvPr>
        </p:nvSpPr>
        <p:spPr/>
        <p:txBody>
          <a:bodyPr/>
          <a:lstStyle/>
          <a:p>
            <a:r>
              <a:rPr lang="en-US" dirty="0"/>
              <a:t>Evolution of performance in organizational  behavior </a:t>
            </a:r>
          </a:p>
        </p:txBody>
      </p:sp>
    </p:spTree>
    <p:extLst>
      <p:ext uri="{BB962C8B-B14F-4D97-AF65-F5344CB8AC3E}">
        <p14:creationId xmlns:p14="http://schemas.microsoft.com/office/powerpoint/2010/main" val="8700377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E9E18-8C78-4294-AF42-67E11866B6B6}"/>
              </a:ext>
            </a:extLst>
          </p:cNvPr>
          <p:cNvSpPr>
            <a:spLocks noGrp="1"/>
          </p:cNvSpPr>
          <p:nvPr>
            <p:ph type="title"/>
          </p:nvPr>
        </p:nvSpPr>
        <p:spPr/>
        <p:txBody>
          <a:bodyPr/>
          <a:lstStyle/>
          <a:p>
            <a:r>
              <a:rPr lang="en-US" dirty="0"/>
              <a:t>Evaluation of Performance Meaning of Performance </a:t>
            </a:r>
          </a:p>
        </p:txBody>
      </p:sp>
      <p:sp>
        <p:nvSpPr>
          <p:cNvPr id="3" name="Content Placeholder 2">
            <a:extLst>
              <a:ext uri="{FF2B5EF4-FFF2-40B4-BE49-F238E27FC236}">
                <a16:creationId xmlns:a16="http://schemas.microsoft.com/office/drawing/2014/main" id="{85B052EB-BD02-4465-8895-A43380F634FD}"/>
              </a:ext>
            </a:extLst>
          </p:cNvPr>
          <p:cNvSpPr>
            <a:spLocks noGrp="1"/>
          </p:cNvSpPr>
          <p:nvPr>
            <p:ph idx="1"/>
          </p:nvPr>
        </p:nvSpPr>
        <p:spPr>
          <a:xfrm>
            <a:off x="838200" y="1825625"/>
            <a:ext cx="10515600" cy="5308600"/>
          </a:xfrm>
        </p:spPr>
        <p:txBody>
          <a:bodyPr>
            <a:normAutofit/>
          </a:bodyPr>
          <a:lstStyle/>
          <a:p>
            <a:pPr marL="0" indent="0">
              <a:buNone/>
            </a:pPr>
            <a:r>
              <a:rPr lang="en-US" dirty="0"/>
              <a:t> Evaluation Performance evaluation (also called performance appraisal) is a systematic process used by organizations to assess an employee’s work performance, productivity, and contribution to organizational goals. It helps managers understand:</a:t>
            </a:r>
          </a:p>
          <a:p>
            <a:pPr marL="0" indent="0">
              <a:buNone/>
            </a:pPr>
            <a:r>
              <a:rPr lang="en-US" dirty="0"/>
              <a:t>How well employees are performing their duties Whether employees meet job expectations Areas where improvement or training is needed Performance evaluation is an important function of human resource management and organizational behavior. Definitions Performance evaluation can be defined as: “A formal and systematic process used to measure, evaluate, and improve employee performance in relation to organizational objectives.”</a:t>
            </a:r>
          </a:p>
        </p:txBody>
      </p:sp>
    </p:spTree>
    <p:extLst>
      <p:ext uri="{BB962C8B-B14F-4D97-AF65-F5344CB8AC3E}">
        <p14:creationId xmlns:p14="http://schemas.microsoft.com/office/powerpoint/2010/main" val="37187155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2D0B7-137A-452D-BBFF-04C6ED4AA37E}"/>
              </a:ext>
            </a:extLst>
          </p:cNvPr>
          <p:cNvSpPr>
            <a:spLocks noGrp="1"/>
          </p:cNvSpPr>
          <p:nvPr>
            <p:ph type="title"/>
          </p:nvPr>
        </p:nvSpPr>
        <p:spPr/>
        <p:txBody>
          <a:bodyPr/>
          <a:lstStyle/>
          <a:p>
            <a:r>
              <a:rPr lang="en-US" dirty="0"/>
              <a:t>Objectives of Performance Evaluation</a:t>
            </a:r>
            <a:br>
              <a:rPr lang="en-US" dirty="0"/>
            </a:br>
            <a:endParaRPr lang="en-US" dirty="0"/>
          </a:p>
        </p:txBody>
      </p:sp>
      <p:sp>
        <p:nvSpPr>
          <p:cNvPr id="3" name="Content Placeholder 2">
            <a:extLst>
              <a:ext uri="{FF2B5EF4-FFF2-40B4-BE49-F238E27FC236}">
                <a16:creationId xmlns:a16="http://schemas.microsoft.com/office/drawing/2014/main" id="{790C1960-660C-474D-A3C8-74FAC84BBFC8}"/>
              </a:ext>
            </a:extLst>
          </p:cNvPr>
          <p:cNvSpPr>
            <a:spLocks noGrp="1"/>
          </p:cNvSpPr>
          <p:nvPr>
            <p:ph idx="1"/>
          </p:nvPr>
        </p:nvSpPr>
        <p:spPr>
          <a:xfrm>
            <a:off x="838200" y="1076324"/>
            <a:ext cx="10515600" cy="5495925"/>
          </a:xfrm>
        </p:spPr>
        <p:txBody>
          <a:bodyPr>
            <a:normAutofit lnSpcReduction="10000"/>
          </a:bodyPr>
          <a:lstStyle/>
          <a:p>
            <a:pPr marL="0" indent="0">
              <a:buNone/>
            </a:pPr>
            <a:endParaRPr lang="en-US" b="1" dirty="0"/>
          </a:p>
          <a:p>
            <a:pPr>
              <a:buFont typeface="+mj-lt"/>
              <a:buAutoNum type="arabicPeriod"/>
            </a:pPr>
            <a:r>
              <a:rPr lang="en-US" b="1" dirty="0"/>
              <a:t>Assess Employee Performance</a:t>
            </a:r>
            <a:endParaRPr lang="en-US" dirty="0"/>
          </a:p>
          <a:p>
            <a:pPr marL="742950" lvl="1" indent="-285750">
              <a:buFont typeface="+mj-lt"/>
              <a:buAutoNum type="arabicPeriod"/>
            </a:pPr>
            <a:r>
              <a:rPr lang="en-US" dirty="0"/>
              <a:t>Determine how well employees perform their tasks.</a:t>
            </a:r>
          </a:p>
          <a:p>
            <a:pPr>
              <a:buFont typeface="+mj-lt"/>
              <a:buAutoNum type="arabicPeriod"/>
            </a:pPr>
            <a:r>
              <a:rPr lang="en-US" b="1" dirty="0"/>
              <a:t>Identify Strengths and Weaknesses</a:t>
            </a:r>
            <a:endParaRPr lang="en-US" dirty="0"/>
          </a:p>
          <a:p>
            <a:pPr marL="742950" lvl="1" indent="-285750">
              <a:buFont typeface="+mj-lt"/>
              <a:buAutoNum type="arabicPeriod"/>
            </a:pPr>
            <a:r>
              <a:rPr lang="en-US" dirty="0"/>
              <a:t>Recognize areas where employees perform well and areas needing improvement.</a:t>
            </a:r>
          </a:p>
          <a:p>
            <a:pPr>
              <a:buFont typeface="+mj-lt"/>
              <a:buAutoNum type="arabicPeriod"/>
            </a:pPr>
            <a:r>
              <a:rPr lang="en-US" b="1" dirty="0"/>
              <a:t>Provide Basis for Rewards</a:t>
            </a:r>
            <a:endParaRPr lang="en-US" dirty="0"/>
          </a:p>
          <a:p>
            <a:pPr marL="742950" lvl="1" indent="-285750">
              <a:buFont typeface="+mj-lt"/>
              <a:buAutoNum type="arabicPeriod"/>
            </a:pPr>
            <a:r>
              <a:rPr lang="en-US" dirty="0"/>
              <a:t>Promotions, bonuses, salary increases, and recognition depend on evaluation results.</a:t>
            </a:r>
          </a:p>
          <a:p>
            <a:pPr>
              <a:buFont typeface="+mj-lt"/>
              <a:buAutoNum type="arabicPeriod"/>
            </a:pPr>
            <a:r>
              <a:rPr lang="en-US" b="1" dirty="0"/>
              <a:t>Improve Communication</a:t>
            </a:r>
            <a:endParaRPr lang="en-US" dirty="0"/>
          </a:p>
          <a:p>
            <a:r>
              <a:rPr lang="en-US" dirty="0"/>
              <a:t>Encourages discussion between managers and employees. Training and Development  Helps identify training needs. Career Development Assists employees in planning their professional growth.</a:t>
            </a:r>
          </a:p>
        </p:txBody>
      </p:sp>
    </p:spTree>
    <p:extLst>
      <p:ext uri="{BB962C8B-B14F-4D97-AF65-F5344CB8AC3E}">
        <p14:creationId xmlns:p14="http://schemas.microsoft.com/office/powerpoint/2010/main" val="9213584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D6E45A-F0F4-4C56-BF1D-888795B88063}"/>
              </a:ext>
            </a:extLst>
          </p:cNvPr>
          <p:cNvSpPr>
            <a:spLocks noGrp="1"/>
          </p:cNvSpPr>
          <p:nvPr>
            <p:ph type="title"/>
          </p:nvPr>
        </p:nvSpPr>
        <p:spPr/>
        <p:txBody>
          <a:bodyPr/>
          <a:lstStyle/>
          <a:p>
            <a:r>
              <a:rPr lang="en-US" b="1" dirty="0"/>
              <a:t>Importance of Performance Evaluation</a:t>
            </a:r>
            <a:br>
              <a:rPr lang="en-US" b="1" dirty="0"/>
            </a:br>
            <a:endParaRPr lang="en-US" dirty="0"/>
          </a:p>
        </p:txBody>
      </p:sp>
      <p:sp>
        <p:nvSpPr>
          <p:cNvPr id="3" name="Content Placeholder 2">
            <a:extLst>
              <a:ext uri="{FF2B5EF4-FFF2-40B4-BE49-F238E27FC236}">
                <a16:creationId xmlns:a16="http://schemas.microsoft.com/office/drawing/2014/main" id="{C751FACD-ACC0-48CE-9490-95EE7E1AA89D}"/>
              </a:ext>
            </a:extLst>
          </p:cNvPr>
          <p:cNvSpPr>
            <a:spLocks noGrp="1"/>
          </p:cNvSpPr>
          <p:nvPr>
            <p:ph idx="1"/>
          </p:nvPr>
        </p:nvSpPr>
        <p:spPr>
          <a:xfrm>
            <a:off x="838200" y="1038225"/>
            <a:ext cx="10515600" cy="5924550"/>
          </a:xfrm>
        </p:spPr>
        <p:txBody>
          <a:bodyPr>
            <a:normAutofit fontScale="85000" lnSpcReduction="20000"/>
          </a:bodyPr>
          <a:lstStyle/>
          <a:p>
            <a:pPr marL="0" indent="0">
              <a:buNone/>
            </a:pPr>
            <a:endParaRPr lang="en-US" b="1" dirty="0"/>
          </a:p>
          <a:p>
            <a:pPr>
              <a:buFont typeface="+mj-lt"/>
              <a:buAutoNum type="arabicPeriod"/>
            </a:pPr>
            <a:r>
              <a:rPr lang="en-US" b="1" dirty="0"/>
              <a:t>Improves employee productivity</a:t>
            </a:r>
            <a:endParaRPr lang="en-US" dirty="0"/>
          </a:p>
          <a:p>
            <a:pPr>
              <a:buFont typeface="+mj-lt"/>
              <a:buAutoNum type="arabicPeriod"/>
            </a:pPr>
            <a:r>
              <a:rPr lang="en-US" b="1" dirty="0"/>
              <a:t>Enhances employee motivation</a:t>
            </a:r>
            <a:endParaRPr lang="en-US" dirty="0"/>
          </a:p>
          <a:p>
            <a:pPr>
              <a:buFont typeface="+mj-lt"/>
              <a:buAutoNum type="arabicPeriod"/>
            </a:pPr>
            <a:r>
              <a:rPr lang="en-US" b="1" dirty="0"/>
              <a:t>Helps in decision-making</a:t>
            </a:r>
            <a:endParaRPr lang="en-US" dirty="0"/>
          </a:p>
          <a:p>
            <a:pPr>
              <a:buFont typeface="+mj-lt"/>
              <a:buAutoNum type="arabicPeriod"/>
            </a:pPr>
            <a:r>
              <a:rPr lang="en-US" b="1" dirty="0"/>
              <a:t>Strengthens organizational effectiveness</a:t>
            </a:r>
            <a:endParaRPr lang="en-US" dirty="0"/>
          </a:p>
          <a:p>
            <a:pPr>
              <a:buFont typeface="+mj-lt"/>
              <a:buAutoNum type="arabicPeriod"/>
            </a:pPr>
            <a:r>
              <a:rPr lang="en-US" b="1" dirty="0"/>
              <a:t>Identifies leadership potential</a:t>
            </a:r>
          </a:p>
          <a:p>
            <a:pPr marL="0" indent="0">
              <a:buNone/>
            </a:pPr>
            <a:r>
              <a:rPr lang="en-US" b="1" dirty="0"/>
              <a:t>6.Methods of Performance Evaluation</a:t>
            </a:r>
          </a:p>
          <a:p>
            <a:r>
              <a:rPr lang="en-US" b="1" dirty="0"/>
              <a:t>1. Traditional Methods</a:t>
            </a:r>
          </a:p>
          <a:p>
            <a:r>
              <a:rPr lang="en-US" b="1" dirty="0"/>
              <a:t>a. Ranking Method</a:t>
            </a:r>
            <a:br>
              <a:rPr lang="en-US" dirty="0"/>
            </a:br>
            <a:r>
              <a:rPr lang="en-US" dirty="0"/>
              <a:t>Employees are ranked from best to worst performer.</a:t>
            </a:r>
          </a:p>
          <a:p>
            <a:r>
              <a:rPr lang="en-US" b="1" dirty="0"/>
              <a:t>b. Graphic Rating Scale</a:t>
            </a:r>
            <a:br>
              <a:rPr lang="en-US" dirty="0"/>
            </a:br>
            <a:r>
              <a:rPr lang="en-US" dirty="0"/>
              <a:t>Employees are rated on different criteria such as:</a:t>
            </a:r>
          </a:p>
          <a:p>
            <a:r>
              <a:rPr lang="en-US" dirty="0"/>
              <a:t>punctuality</a:t>
            </a:r>
          </a:p>
          <a:p>
            <a:r>
              <a:rPr lang="en-US" dirty="0"/>
              <a:t>teamwork</a:t>
            </a:r>
          </a:p>
          <a:p>
            <a:r>
              <a:rPr lang="en-US" dirty="0"/>
              <a:t>quality of work</a:t>
            </a:r>
          </a:p>
          <a:p>
            <a:pPr>
              <a:buFont typeface="+mj-lt"/>
              <a:buAutoNum type="arabicPeriod"/>
            </a:pPr>
            <a:endParaRPr lang="en-US" dirty="0"/>
          </a:p>
          <a:p>
            <a:endParaRPr lang="en-US" dirty="0"/>
          </a:p>
        </p:txBody>
      </p:sp>
    </p:spTree>
    <p:extLst>
      <p:ext uri="{BB962C8B-B14F-4D97-AF65-F5344CB8AC3E}">
        <p14:creationId xmlns:p14="http://schemas.microsoft.com/office/powerpoint/2010/main" val="33058870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A62246-CF14-4074-BF68-0E5897256F66}"/>
              </a:ext>
            </a:extLst>
          </p:cNvPr>
          <p:cNvSpPr>
            <a:spLocks noGrp="1"/>
          </p:cNvSpPr>
          <p:nvPr>
            <p:ph type="title"/>
          </p:nvPr>
        </p:nvSpPr>
        <p:spPr/>
        <p:txBody>
          <a:bodyPr/>
          <a:lstStyle/>
          <a:p>
            <a:r>
              <a:rPr lang="en-US" dirty="0"/>
              <a:t>Methods </a:t>
            </a:r>
          </a:p>
        </p:txBody>
      </p:sp>
      <p:sp>
        <p:nvSpPr>
          <p:cNvPr id="3" name="Content Placeholder 2">
            <a:extLst>
              <a:ext uri="{FF2B5EF4-FFF2-40B4-BE49-F238E27FC236}">
                <a16:creationId xmlns:a16="http://schemas.microsoft.com/office/drawing/2014/main" id="{EF5B05E6-F0B2-424D-97CE-F37B724A0FC3}"/>
              </a:ext>
            </a:extLst>
          </p:cNvPr>
          <p:cNvSpPr>
            <a:spLocks noGrp="1"/>
          </p:cNvSpPr>
          <p:nvPr>
            <p:ph idx="1"/>
          </p:nvPr>
        </p:nvSpPr>
        <p:spPr>
          <a:xfrm>
            <a:off x="838200" y="1190625"/>
            <a:ext cx="10515600" cy="5886450"/>
          </a:xfrm>
        </p:spPr>
        <p:txBody>
          <a:bodyPr>
            <a:normAutofit fontScale="85000" lnSpcReduction="20000"/>
          </a:bodyPr>
          <a:lstStyle/>
          <a:p>
            <a:r>
              <a:rPr lang="en-US" b="1" dirty="0"/>
              <a:t>c. Checklist Method</a:t>
            </a:r>
            <a:br>
              <a:rPr lang="en-US" dirty="0"/>
            </a:br>
            <a:r>
              <a:rPr lang="en-US" dirty="0"/>
              <a:t>Managers check statements describing employee behavior.</a:t>
            </a:r>
          </a:p>
          <a:p>
            <a:r>
              <a:rPr lang="en-US" b="1" dirty="0"/>
              <a:t>d. Critical Incident Method</a:t>
            </a:r>
            <a:br>
              <a:rPr lang="en-US" dirty="0"/>
            </a:br>
            <a:r>
              <a:rPr lang="en-US" dirty="0"/>
              <a:t>Focuses on significant positive or negative behaviors of employees.</a:t>
            </a:r>
          </a:p>
          <a:p>
            <a:r>
              <a:rPr lang="en-US" b="1" dirty="0"/>
              <a:t>2. Modern Methods</a:t>
            </a:r>
          </a:p>
          <a:p>
            <a:r>
              <a:rPr lang="en-US" b="1" dirty="0"/>
              <a:t>a. Management by Objectives (MBO)</a:t>
            </a:r>
            <a:br>
              <a:rPr lang="en-US" dirty="0"/>
            </a:br>
            <a:r>
              <a:rPr lang="en-US" dirty="0"/>
              <a:t>Employees and managers jointly set goals and evaluate performance based on achievement.</a:t>
            </a:r>
          </a:p>
          <a:p>
            <a:r>
              <a:rPr lang="en-US" b="1" dirty="0"/>
              <a:t>b. 360-Degree Feedback</a:t>
            </a:r>
            <a:br>
              <a:rPr lang="en-US" dirty="0"/>
            </a:br>
            <a:r>
              <a:rPr lang="en-US" dirty="0"/>
              <a:t>Performance is evaluated by multiple sources:</a:t>
            </a:r>
          </a:p>
          <a:p>
            <a:r>
              <a:rPr lang="en-US" dirty="0"/>
              <a:t>supervisors</a:t>
            </a:r>
          </a:p>
          <a:p>
            <a:r>
              <a:rPr lang="en-US" dirty="0"/>
              <a:t>colleagues</a:t>
            </a:r>
          </a:p>
          <a:p>
            <a:r>
              <a:rPr lang="en-US" dirty="0"/>
              <a:t>subordinates</a:t>
            </a:r>
          </a:p>
          <a:p>
            <a:r>
              <a:rPr lang="en-US" dirty="0"/>
              <a:t>customers</a:t>
            </a:r>
          </a:p>
          <a:p>
            <a:r>
              <a:rPr lang="en-US" b="1" dirty="0"/>
              <a:t>c. Assessment Centers</a:t>
            </a:r>
            <a:br>
              <a:rPr lang="en-US" dirty="0"/>
            </a:br>
            <a:r>
              <a:rPr lang="en-US" dirty="0"/>
              <a:t>Employees are evaluated through simulations and practical exercises.</a:t>
            </a:r>
          </a:p>
          <a:p>
            <a:endParaRPr lang="en-US" dirty="0"/>
          </a:p>
          <a:p>
            <a:endParaRPr lang="en-US" dirty="0"/>
          </a:p>
          <a:p>
            <a:endParaRPr lang="en-US" dirty="0"/>
          </a:p>
        </p:txBody>
      </p:sp>
    </p:spTree>
    <p:extLst>
      <p:ext uri="{BB962C8B-B14F-4D97-AF65-F5344CB8AC3E}">
        <p14:creationId xmlns:p14="http://schemas.microsoft.com/office/powerpoint/2010/main" val="12296367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20482-6ADF-4B93-B1D2-3EC7006FCC70}"/>
              </a:ext>
            </a:extLst>
          </p:cNvPr>
          <p:cNvSpPr>
            <a:spLocks noGrp="1"/>
          </p:cNvSpPr>
          <p:nvPr>
            <p:ph type="title"/>
          </p:nvPr>
        </p:nvSpPr>
        <p:spPr/>
        <p:txBody>
          <a:bodyPr/>
          <a:lstStyle/>
          <a:p>
            <a:r>
              <a:rPr lang="en-US" dirty="0"/>
              <a:t>Problems in Performance Evaluation</a:t>
            </a:r>
            <a:br>
              <a:rPr lang="en-US" dirty="0"/>
            </a:br>
            <a:endParaRPr lang="en-US" dirty="0"/>
          </a:p>
        </p:txBody>
      </p:sp>
      <p:sp>
        <p:nvSpPr>
          <p:cNvPr id="3" name="Content Placeholder 2">
            <a:extLst>
              <a:ext uri="{FF2B5EF4-FFF2-40B4-BE49-F238E27FC236}">
                <a16:creationId xmlns:a16="http://schemas.microsoft.com/office/drawing/2014/main" id="{81DC8BAA-4766-4D61-B060-2F5A5FE1748A}"/>
              </a:ext>
            </a:extLst>
          </p:cNvPr>
          <p:cNvSpPr>
            <a:spLocks noGrp="1"/>
          </p:cNvSpPr>
          <p:nvPr>
            <p:ph idx="1"/>
          </p:nvPr>
        </p:nvSpPr>
        <p:spPr>
          <a:xfrm>
            <a:off x="838200" y="895350"/>
            <a:ext cx="10515600" cy="5867400"/>
          </a:xfrm>
        </p:spPr>
        <p:txBody>
          <a:bodyPr/>
          <a:lstStyle/>
          <a:p>
            <a:pPr marL="0" indent="0">
              <a:buNone/>
            </a:pPr>
            <a:endParaRPr lang="en-US" b="1" dirty="0"/>
          </a:p>
          <a:p>
            <a:pPr>
              <a:buFont typeface="+mj-lt"/>
              <a:buAutoNum type="arabicPeriod"/>
            </a:pPr>
            <a:r>
              <a:rPr lang="en-US" b="1" dirty="0"/>
              <a:t>Bias or favoritism</a:t>
            </a:r>
            <a:endParaRPr lang="en-US" dirty="0"/>
          </a:p>
          <a:p>
            <a:pPr>
              <a:buFont typeface="+mj-lt"/>
              <a:buAutoNum type="arabicPeriod"/>
            </a:pPr>
            <a:r>
              <a:rPr lang="en-US" b="1" dirty="0"/>
              <a:t>Halo effect</a:t>
            </a:r>
            <a:r>
              <a:rPr lang="en-US" dirty="0"/>
              <a:t> (judging based on one trait)</a:t>
            </a:r>
          </a:p>
          <a:p>
            <a:pPr>
              <a:buFont typeface="+mj-lt"/>
              <a:buAutoNum type="arabicPeriod"/>
            </a:pPr>
            <a:r>
              <a:rPr lang="en-US" b="1" dirty="0"/>
              <a:t>Lack of clear standards</a:t>
            </a:r>
            <a:endParaRPr lang="en-US" dirty="0"/>
          </a:p>
          <a:p>
            <a:pPr>
              <a:buFont typeface="+mj-lt"/>
              <a:buAutoNum type="arabicPeriod"/>
            </a:pPr>
            <a:r>
              <a:rPr lang="en-US" b="1" dirty="0"/>
              <a:t>Personal conflicts</a:t>
            </a:r>
            <a:endParaRPr lang="en-US" dirty="0"/>
          </a:p>
          <a:p>
            <a:pPr>
              <a:buFont typeface="+mj-lt"/>
              <a:buAutoNum type="arabicPeriod"/>
            </a:pPr>
            <a:r>
              <a:rPr lang="en-US" b="1" dirty="0"/>
              <a:t>Poor communication</a:t>
            </a:r>
            <a:endParaRPr lang="en-US" dirty="0"/>
          </a:p>
          <a:p>
            <a:r>
              <a:rPr lang="en-US" dirty="0"/>
              <a:t>Proper training and clear evaluation criteria can reduce these problems.</a:t>
            </a:r>
          </a:p>
          <a:p>
            <a:endParaRPr lang="en-US" dirty="0"/>
          </a:p>
        </p:txBody>
      </p:sp>
    </p:spTree>
    <p:extLst>
      <p:ext uri="{BB962C8B-B14F-4D97-AF65-F5344CB8AC3E}">
        <p14:creationId xmlns:p14="http://schemas.microsoft.com/office/powerpoint/2010/main" val="7021545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8A450D-6768-4E18-98AE-9CC585B20AC5}"/>
              </a:ext>
            </a:extLst>
          </p:cNvPr>
          <p:cNvSpPr>
            <a:spLocks noGrp="1"/>
          </p:cNvSpPr>
          <p:nvPr>
            <p:ph type="title"/>
          </p:nvPr>
        </p:nvSpPr>
        <p:spPr/>
        <p:txBody>
          <a:bodyPr/>
          <a:lstStyle/>
          <a:p>
            <a:r>
              <a:rPr lang="en-US" dirty="0"/>
              <a:t>2. Performance Evaluation Feedback</a:t>
            </a:r>
            <a:br>
              <a:rPr lang="en-US" dirty="0"/>
            </a:br>
            <a:endParaRPr lang="en-US" dirty="0"/>
          </a:p>
        </p:txBody>
      </p:sp>
      <p:sp>
        <p:nvSpPr>
          <p:cNvPr id="3" name="Content Placeholder 2">
            <a:extLst>
              <a:ext uri="{FF2B5EF4-FFF2-40B4-BE49-F238E27FC236}">
                <a16:creationId xmlns:a16="http://schemas.microsoft.com/office/drawing/2014/main" id="{66F031D3-9D5D-48E3-9F21-22BF79F3F3C4}"/>
              </a:ext>
            </a:extLst>
          </p:cNvPr>
          <p:cNvSpPr>
            <a:spLocks noGrp="1"/>
          </p:cNvSpPr>
          <p:nvPr>
            <p:ph idx="1"/>
          </p:nvPr>
        </p:nvSpPr>
        <p:spPr>
          <a:xfrm>
            <a:off x="838200" y="1028700"/>
            <a:ext cx="10515600" cy="5148263"/>
          </a:xfrm>
        </p:spPr>
        <p:txBody>
          <a:bodyPr/>
          <a:lstStyle/>
          <a:p>
            <a:pPr marL="0" indent="0">
              <a:buNone/>
            </a:pPr>
            <a:r>
              <a:rPr lang="en-US" b="1" dirty="0"/>
              <a:t>Meaning of Feedback</a:t>
            </a:r>
          </a:p>
          <a:p>
            <a:r>
              <a:rPr lang="en-US" b="1" dirty="0"/>
              <a:t>Performance feedback</a:t>
            </a:r>
            <a:r>
              <a:rPr lang="en-US" dirty="0"/>
              <a:t> is the information given to employees about their work performance after evaluation.</a:t>
            </a:r>
          </a:p>
          <a:p>
            <a:r>
              <a:rPr lang="en-US" dirty="0"/>
              <a:t>It tells employees:</a:t>
            </a:r>
          </a:p>
          <a:p>
            <a:r>
              <a:rPr lang="en-US" dirty="0"/>
              <a:t>How well they performed</a:t>
            </a:r>
          </a:p>
          <a:p>
            <a:r>
              <a:rPr lang="en-US" dirty="0"/>
              <a:t>What improvements are needed</a:t>
            </a:r>
          </a:p>
          <a:p>
            <a:r>
              <a:rPr lang="en-US" dirty="0"/>
              <a:t>How they can develop professionally</a:t>
            </a:r>
          </a:p>
          <a:p>
            <a:endParaRPr lang="en-US" dirty="0"/>
          </a:p>
        </p:txBody>
      </p:sp>
    </p:spTree>
    <p:extLst>
      <p:ext uri="{BB962C8B-B14F-4D97-AF65-F5344CB8AC3E}">
        <p14:creationId xmlns:p14="http://schemas.microsoft.com/office/powerpoint/2010/main" val="26135296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9DCA6-9198-4D0F-A153-0E65F35C591E}"/>
              </a:ext>
            </a:extLst>
          </p:cNvPr>
          <p:cNvSpPr>
            <a:spLocks noGrp="1"/>
          </p:cNvSpPr>
          <p:nvPr>
            <p:ph type="title"/>
          </p:nvPr>
        </p:nvSpPr>
        <p:spPr/>
        <p:txBody>
          <a:bodyPr/>
          <a:lstStyle/>
          <a:p>
            <a:r>
              <a:rPr lang="en-US" dirty="0"/>
              <a:t>Objectives of Performance Feedback</a:t>
            </a:r>
            <a:br>
              <a:rPr lang="en-US" dirty="0"/>
            </a:br>
            <a:endParaRPr lang="en-US" dirty="0"/>
          </a:p>
        </p:txBody>
      </p:sp>
      <p:sp>
        <p:nvSpPr>
          <p:cNvPr id="3" name="Content Placeholder 2">
            <a:extLst>
              <a:ext uri="{FF2B5EF4-FFF2-40B4-BE49-F238E27FC236}">
                <a16:creationId xmlns:a16="http://schemas.microsoft.com/office/drawing/2014/main" id="{A4B85CB3-ABCC-4A01-B47F-6B280FED3DD4}"/>
              </a:ext>
            </a:extLst>
          </p:cNvPr>
          <p:cNvSpPr>
            <a:spLocks noGrp="1"/>
          </p:cNvSpPr>
          <p:nvPr>
            <p:ph idx="1"/>
          </p:nvPr>
        </p:nvSpPr>
        <p:spPr/>
        <p:txBody>
          <a:bodyPr/>
          <a:lstStyle/>
          <a:p>
            <a:pPr marL="0" indent="0">
              <a:buNone/>
            </a:pPr>
            <a:endParaRPr lang="en-US" b="1" dirty="0"/>
          </a:p>
          <a:p>
            <a:pPr>
              <a:buFont typeface="+mj-lt"/>
              <a:buAutoNum type="arabicPeriod"/>
            </a:pPr>
            <a:r>
              <a:rPr lang="en-US" b="1" dirty="0"/>
              <a:t>Improve employee performance</a:t>
            </a:r>
            <a:endParaRPr lang="en-US" dirty="0"/>
          </a:p>
          <a:p>
            <a:pPr>
              <a:buFont typeface="+mj-lt"/>
              <a:buAutoNum type="arabicPeriod"/>
            </a:pPr>
            <a:r>
              <a:rPr lang="en-US" b="1" dirty="0"/>
              <a:t>Clarify expectations</a:t>
            </a:r>
            <a:endParaRPr lang="en-US" dirty="0"/>
          </a:p>
          <a:p>
            <a:pPr>
              <a:buFont typeface="+mj-lt"/>
              <a:buAutoNum type="arabicPeriod"/>
            </a:pPr>
            <a:r>
              <a:rPr lang="en-US" b="1" dirty="0"/>
              <a:t>Encourage employee development</a:t>
            </a:r>
            <a:endParaRPr lang="en-US" dirty="0"/>
          </a:p>
          <a:p>
            <a:pPr>
              <a:buFont typeface="+mj-lt"/>
              <a:buAutoNum type="arabicPeriod"/>
            </a:pPr>
            <a:r>
              <a:rPr lang="en-US" b="1" dirty="0"/>
              <a:t>Strengthen employee-manager relationships</a:t>
            </a:r>
            <a:endParaRPr lang="en-US" dirty="0"/>
          </a:p>
          <a:p>
            <a:pPr>
              <a:buFont typeface="+mj-lt"/>
              <a:buAutoNum type="arabicPeriod"/>
            </a:pPr>
            <a:r>
              <a:rPr lang="en-US" b="1" dirty="0"/>
              <a:t>Increase motivation</a:t>
            </a:r>
            <a:endParaRPr lang="en-US" dirty="0"/>
          </a:p>
          <a:p>
            <a:endParaRPr lang="en-US" dirty="0"/>
          </a:p>
        </p:txBody>
      </p:sp>
    </p:spTree>
    <p:extLst>
      <p:ext uri="{BB962C8B-B14F-4D97-AF65-F5344CB8AC3E}">
        <p14:creationId xmlns:p14="http://schemas.microsoft.com/office/powerpoint/2010/main" val="22080400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C927D-07A6-47B8-AFBC-136BB6F0A34C}"/>
              </a:ext>
            </a:extLst>
          </p:cNvPr>
          <p:cNvSpPr>
            <a:spLocks noGrp="1"/>
          </p:cNvSpPr>
          <p:nvPr>
            <p:ph type="title"/>
          </p:nvPr>
        </p:nvSpPr>
        <p:spPr/>
        <p:txBody>
          <a:bodyPr/>
          <a:lstStyle/>
          <a:p>
            <a:r>
              <a:rPr lang="en-US" dirty="0"/>
              <a:t>Characteristics of Effective Feedback</a:t>
            </a:r>
            <a:br>
              <a:rPr lang="en-US" dirty="0"/>
            </a:br>
            <a:endParaRPr lang="en-US" dirty="0"/>
          </a:p>
        </p:txBody>
      </p:sp>
      <p:sp>
        <p:nvSpPr>
          <p:cNvPr id="3" name="Content Placeholder 2">
            <a:extLst>
              <a:ext uri="{FF2B5EF4-FFF2-40B4-BE49-F238E27FC236}">
                <a16:creationId xmlns:a16="http://schemas.microsoft.com/office/drawing/2014/main" id="{3CE8F52F-D6AC-4A0C-BE41-EDD5B28D319F}"/>
              </a:ext>
            </a:extLst>
          </p:cNvPr>
          <p:cNvSpPr>
            <a:spLocks noGrp="1"/>
          </p:cNvSpPr>
          <p:nvPr>
            <p:ph idx="1"/>
          </p:nvPr>
        </p:nvSpPr>
        <p:spPr>
          <a:xfrm>
            <a:off x="838200" y="1019175"/>
            <a:ext cx="10515600" cy="5157788"/>
          </a:xfrm>
        </p:spPr>
        <p:txBody>
          <a:bodyPr>
            <a:normAutofit/>
          </a:bodyPr>
          <a:lstStyle/>
          <a:p>
            <a:pPr marL="0" indent="0">
              <a:buNone/>
            </a:pPr>
            <a:r>
              <a:rPr lang="en-US" dirty="0"/>
              <a:t>Good performance feedback should be:</a:t>
            </a:r>
          </a:p>
          <a:p>
            <a:r>
              <a:rPr lang="en-US" b="1" dirty="0"/>
              <a:t>1. Specific</a:t>
            </a:r>
          </a:p>
          <a:p>
            <a:r>
              <a:rPr lang="en-US" dirty="0"/>
              <a:t>Feedback should focus on specific behaviors rather than general statements.</a:t>
            </a:r>
          </a:p>
          <a:p>
            <a:r>
              <a:rPr lang="en-US" dirty="0"/>
              <a:t>Example:</a:t>
            </a:r>
            <a:br>
              <a:rPr lang="en-US" dirty="0"/>
            </a:br>
            <a:r>
              <a:rPr lang="en-US" dirty="0"/>
              <a:t>Instead of saying </a:t>
            </a:r>
            <a:r>
              <a:rPr lang="en-US" i="1" dirty="0"/>
              <a:t>“Your work is poor,”</a:t>
            </a:r>
            <a:r>
              <a:rPr lang="en-US" dirty="0"/>
              <a:t> say </a:t>
            </a:r>
            <a:r>
              <a:rPr lang="en-US" i="1" dirty="0"/>
              <a:t>“Your report lacked proper data analysis.”</a:t>
            </a:r>
            <a:endParaRPr lang="en-US" dirty="0"/>
          </a:p>
          <a:p>
            <a:r>
              <a:rPr lang="en-US" b="1" dirty="0"/>
              <a:t>2. Timely</a:t>
            </a:r>
          </a:p>
          <a:p>
            <a:r>
              <a:rPr lang="en-US" dirty="0"/>
              <a:t>Feedback should be given soon after performance evaluation.</a:t>
            </a:r>
          </a:p>
          <a:p>
            <a:endParaRPr lang="en-US" dirty="0"/>
          </a:p>
        </p:txBody>
      </p:sp>
    </p:spTree>
    <p:extLst>
      <p:ext uri="{BB962C8B-B14F-4D97-AF65-F5344CB8AC3E}">
        <p14:creationId xmlns:p14="http://schemas.microsoft.com/office/powerpoint/2010/main" val="4009394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349BF7-2885-4B86-854F-FD0E14B8FE1A}"/>
              </a:ext>
            </a:extLst>
          </p:cNvPr>
          <p:cNvSpPr>
            <a:spLocks noGrp="1"/>
          </p:cNvSpPr>
          <p:nvPr>
            <p:ph type="title"/>
          </p:nvPr>
        </p:nvSpPr>
        <p:spPr/>
        <p:txBody>
          <a:bodyPr/>
          <a:lstStyle/>
          <a:p>
            <a:r>
              <a:rPr lang="en-US" dirty="0"/>
              <a:t>3. Constructive</a:t>
            </a:r>
            <a:br>
              <a:rPr lang="en-US" dirty="0"/>
            </a:br>
            <a:endParaRPr lang="en-US" dirty="0"/>
          </a:p>
        </p:txBody>
      </p:sp>
      <p:sp>
        <p:nvSpPr>
          <p:cNvPr id="3" name="Content Placeholder 2">
            <a:extLst>
              <a:ext uri="{FF2B5EF4-FFF2-40B4-BE49-F238E27FC236}">
                <a16:creationId xmlns:a16="http://schemas.microsoft.com/office/drawing/2014/main" id="{6C908564-1037-4850-9F76-9CC2256C5BDE}"/>
              </a:ext>
            </a:extLst>
          </p:cNvPr>
          <p:cNvSpPr>
            <a:spLocks noGrp="1"/>
          </p:cNvSpPr>
          <p:nvPr>
            <p:ph idx="1"/>
          </p:nvPr>
        </p:nvSpPr>
        <p:spPr>
          <a:xfrm>
            <a:off x="838200" y="1123950"/>
            <a:ext cx="10515600" cy="5734050"/>
          </a:xfrm>
        </p:spPr>
        <p:txBody>
          <a:bodyPr/>
          <a:lstStyle/>
          <a:p>
            <a:pPr marL="0" indent="0">
              <a:buNone/>
            </a:pPr>
            <a:r>
              <a:rPr lang="en-US" dirty="0"/>
              <a:t>The aim should be improvement, not criticism.</a:t>
            </a:r>
          </a:p>
          <a:p>
            <a:r>
              <a:rPr lang="en-US" b="1" dirty="0"/>
              <a:t>4. Balanced</a:t>
            </a:r>
          </a:p>
          <a:p>
            <a:r>
              <a:rPr lang="en-US" dirty="0"/>
              <a:t>Include both:</a:t>
            </a:r>
          </a:p>
          <a:p>
            <a:r>
              <a:rPr lang="en-US" dirty="0"/>
              <a:t>positive feedback</a:t>
            </a:r>
          </a:p>
          <a:p>
            <a:r>
              <a:rPr lang="en-US" dirty="0"/>
              <a:t>areas for improvement</a:t>
            </a:r>
          </a:p>
          <a:p>
            <a:r>
              <a:rPr lang="en-US" b="1" dirty="0"/>
              <a:t>5. Clear and understandable</a:t>
            </a:r>
          </a:p>
          <a:p>
            <a:r>
              <a:rPr lang="en-US" dirty="0"/>
              <a:t>Employees should clearly understand what is expected.</a:t>
            </a:r>
          </a:p>
          <a:p>
            <a:endParaRPr lang="en-US" dirty="0"/>
          </a:p>
        </p:txBody>
      </p:sp>
    </p:spTree>
    <p:extLst>
      <p:ext uri="{BB962C8B-B14F-4D97-AF65-F5344CB8AC3E}">
        <p14:creationId xmlns:p14="http://schemas.microsoft.com/office/powerpoint/2010/main" val="41661007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77507A-729A-4EB4-B314-31AAB7CD3960}"/>
              </a:ext>
            </a:extLst>
          </p:cNvPr>
          <p:cNvSpPr>
            <a:spLocks noGrp="1"/>
          </p:cNvSpPr>
          <p:nvPr>
            <p:ph type="title"/>
          </p:nvPr>
        </p:nvSpPr>
        <p:spPr/>
        <p:txBody>
          <a:bodyPr/>
          <a:lstStyle/>
          <a:p>
            <a:r>
              <a:rPr lang="en-US" dirty="0"/>
              <a:t>Types of Performance Feedback</a:t>
            </a:r>
            <a:br>
              <a:rPr lang="en-US" dirty="0"/>
            </a:br>
            <a:endParaRPr lang="en-US" dirty="0"/>
          </a:p>
        </p:txBody>
      </p:sp>
      <p:sp>
        <p:nvSpPr>
          <p:cNvPr id="3" name="Content Placeholder 2">
            <a:extLst>
              <a:ext uri="{FF2B5EF4-FFF2-40B4-BE49-F238E27FC236}">
                <a16:creationId xmlns:a16="http://schemas.microsoft.com/office/drawing/2014/main" id="{94965ECC-D279-4212-A292-6B2CCCA547CE}"/>
              </a:ext>
            </a:extLst>
          </p:cNvPr>
          <p:cNvSpPr>
            <a:spLocks noGrp="1"/>
          </p:cNvSpPr>
          <p:nvPr>
            <p:ph idx="1"/>
          </p:nvPr>
        </p:nvSpPr>
        <p:spPr>
          <a:xfrm>
            <a:off x="838200" y="1085850"/>
            <a:ext cx="10515600" cy="5534025"/>
          </a:xfrm>
        </p:spPr>
        <p:txBody>
          <a:bodyPr>
            <a:normAutofit/>
          </a:bodyPr>
          <a:lstStyle/>
          <a:p>
            <a:pPr marL="0" indent="0">
              <a:buNone/>
            </a:pPr>
            <a:endParaRPr lang="en-US" b="1" dirty="0"/>
          </a:p>
          <a:p>
            <a:r>
              <a:rPr lang="en-US" b="1" dirty="0"/>
              <a:t>1. Positive Feedback</a:t>
            </a:r>
          </a:p>
          <a:p>
            <a:r>
              <a:rPr lang="en-US" dirty="0"/>
              <a:t>Recognizes good performance and achievements.</a:t>
            </a:r>
          </a:p>
          <a:p>
            <a:r>
              <a:rPr lang="en-US" dirty="0"/>
              <a:t>Example:</a:t>
            </a:r>
          </a:p>
          <a:p>
            <a:r>
              <a:rPr lang="en-US" dirty="0"/>
              <a:t>praise</a:t>
            </a:r>
          </a:p>
          <a:p>
            <a:r>
              <a:rPr lang="en-US" dirty="0"/>
              <a:t>recognition</a:t>
            </a:r>
          </a:p>
          <a:p>
            <a:r>
              <a:rPr lang="en-US" dirty="0"/>
              <a:t>rewards</a:t>
            </a:r>
          </a:p>
          <a:p>
            <a:r>
              <a:rPr lang="en-US" b="1" dirty="0"/>
              <a:t>2. Negative Feedback</a:t>
            </a:r>
          </a:p>
          <a:p>
            <a:r>
              <a:rPr lang="en-US" dirty="0"/>
              <a:t>Highlights mistakes and areas needing improvement.</a:t>
            </a:r>
          </a:p>
          <a:p>
            <a:r>
              <a:rPr lang="en-US" dirty="0"/>
              <a:t>3. Developmental Feedback Focuses on employee growth and future improvement.</a:t>
            </a:r>
          </a:p>
          <a:p>
            <a:endParaRPr lang="en-US" dirty="0"/>
          </a:p>
        </p:txBody>
      </p:sp>
    </p:spTree>
    <p:extLst>
      <p:ext uri="{BB962C8B-B14F-4D97-AF65-F5344CB8AC3E}">
        <p14:creationId xmlns:p14="http://schemas.microsoft.com/office/powerpoint/2010/main" val="283497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729736-C8D3-440B-BB2A-019A853E699A}"/>
              </a:ext>
            </a:extLst>
          </p:cNvPr>
          <p:cNvSpPr>
            <a:spLocks noGrp="1"/>
          </p:cNvSpPr>
          <p:nvPr>
            <p:ph type="title"/>
          </p:nvPr>
        </p:nvSpPr>
        <p:spPr/>
        <p:txBody>
          <a:bodyPr/>
          <a:lstStyle/>
          <a:p>
            <a:r>
              <a:rPr lang="en-US" dirty="0"/>
              <a:t>Steps in Giving Performance Feedback</a:t>
            </a:r>
            <a:br>
              <a:rPr lang="en-US" dirty="0"/>
            </a:br>
            <a:endParaRPr lang="en-US" dirty="0"/>
          </a:p>
        </p:txBody>
      </p:sp>
      <p:sp>
        <p:nvSpPr>
          <p:cNvPr id="3" name="Content Placeholder 2">
            <a:extLst>
              <a:ext uri="{FF2B5EF4-FFF2-40B4-BE49-F238E27FC236}">
                <a16:creationId xmlns:a16="http://schemas.microsoft.com/office/drawing/2014/main" id="{1539DE02-1CCA-4B39-8664-52D746BBF39C}"/>
              </a:ext>
            </a:extLst>
          </p:cNvPr>
          <p:cNvSpPr>
            <a:spLocks noGrp="1"/>
          </p:cNvSpPr>
          <p:nvPr>
            <p:ph idx="1"/>
          </p:nvPr>
        </p:nvSpPr>
        <p:spPr>
          <a:xfrm>
            <a:off x="838200" y="1257300"/>
            <a:ext cx="10515600" cy="4919663"/>
          </a:xfrm>
        </p:spPr>
        <p:txBody>
          <a:bodyPr/>
          <a:lstStyle/>
          <a:p>
            <a:pPr marL="0" indent="0">
              <a:buNone/>
            </a:pPr>
            <a:endParaRPr lang="en-US" b="1" dirty="0"/>
          </a:p>
          <a:p>
            <a:pPr>
              <a:buFont typeface="+mj-lt"/>
              <a:buAutoNum type="arabicPeriod"/>
            </a:pPr>
            <a:r>
              <a:rPr lang="en-US" b="1" dirty="0"/>
              <a:t>Prepare for the meeting</a:t>
            </a:r>
            <a:endParaRPr lang="en-US" dirty="0"/>
          </a:p>
          <a:p>
            <a:pPr>
              <a:buFont typeface="+mj-lt"/>
              <a:buAutoNum type="arabicPeriod"/>
            </a:pPr>
            <a:r>
              <a:rPr lang="en-US" b="1" dirty="0"/>
              <a:t>Discuss performance results</a:t>
            </a:r>
            <a:endParaRPr lang="en-US" dirty="0"/>
          </a:p>
          <a:p>
            <a:pPr>
              <a:buFont typeface="+mj-lt"/>
              <a:buAutoNum type="arabicPeriod"/>
            </a:pPr>
            <a:r>
              <a:rPr lang="en-US" b="1" dirty="0"/>
              <a:t>Listen to employee opinions</a:t>
            </a:r>
            <a:endParaRPr lang="en-US" dirty="0"/>
          </a:p>
          <a:p>
            <a:pPr>
              <a:buFont typeface="+mj-lt"/>
              <a:buAutoNum type="arabicPeriod"/>
            </a:pPr>
            <a:r>
              <a:rPr lang="en-US" b="1" dirty="0"/>
              <a:t>Identify areas for improvement</a:t>
            </a:r>
            <a:endParaRPr lang="en-US" dirty="0"/>
          </a:p>
          <a:p>
            <a:pPr>
              <a:buFont typeface="+mj-lt"/>
              <a:buAutoNum type="arabicPeriod"/>
            </a:pPr>
            <a:r>
              <a:rPr lang="en-US" b="1" dirty="0"/>
              <a:t>Develop an improvement plan</a:t>
            </a:r>
            <a:endParaRPr lang="en-US" dirty="0"/>
          </a:p>
          <a:p>
            <a:pPr>
              <a:buFont typeface="+mj-lt"/>
              <a:buAutoNum type="arabicPeriod"/>
            </a:pPr>
            <a:r>
              <a:rPr lang="en-US" b="1" dirty="0"/>
              <a:t>Set future goals</a:t>
            </a:r>
            <a:endParaRPr lang="en-US" dirty="0"/>
          </a:p>
          <a:p>
            <a:endParaRPr lang="en-US" dirty="0"/>
          </a:p>
        </p:txBody>
      </p:sp>
    </p:spTree>
    <p:extLst>
      <p:ext uri="{BB962C8B-B14F-4D97-AF65-F5344CB8AC3E}">
        <p14:creationId xmlns:p14="http://schemas.microsoft.com/office/powerpoint/2010/main" val="40869445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834690-293D-405E-A8F9-D36CFF2145FB}"/>
              </a:ext>
            </a:extLst>
          </p:cNvPr>
          <p:cNvSpPr>
            <a:spLocks noGrp="1"/>
          </p:cNvSpPr>
          <p:nvPr>
            <p:ph type="title"/>
          </p:nvPr>
        </p:nvSpPr>
        <p:spPr/>
        <p:txBody>
          <a:bodyPr/>
          <a:lstStyle/>
          <a:p>
            <a:r>
              <a:rPr lang="en-US" dirty="0"/>
              <a:t>Benefits of Performance Feedback</a:t>
            </a:r>
            <a:br>
              <a:rPr lang="en-US" dirty="0"/>
            </a:br>
            <a:endParaRPr lang="en-US" dirty="0"/>
          </a:p>
        </p:txBody>
      </p:sp>
      <p:sp>
        <p:nvSpPr>
          <p:cNvPr id="3" name="Content Placeholder 2">
            <a:extLst>
              <a:ext uri="{FF2B5EF4-FFF2-40B4-BE49-F238E27FC236}">
                <a16:creationId xmlns:a16="http://schemas.microsoft.com/office/drawing/2014/main" id="{830B3C41-3E93-4F04-A9B4-4320684F99B5}"/>
              </a:ext>
            </a:extLst>
          </p:cNvPr>
          <p:cNvSpPr>
            <a:spLocks noGrp="1"/>
          </p:cNvSpPr>
          <p:nvPr>
            <p:ph idx="1"/>
          </p:nvPr>
        </p:nvSpPr>
        <p:spPr/>
        <p:txBody>
          <a:bodyPr/>
          <a:lstStyle/>
          <a:p>
            <a:r>
              <a:rPr lang="en-US" b="1" dirty="0"/>
              <a:t>Benefits of Performance Feedback</a:t>
            </a:r>
          </a:p>
          <a:p>
            <a:r>
              <a:rPr lang="en-US" dirty="0"/>
              <a:t>Improves job satisfaction</a:t>
            </a:r>
          </a:p>
          <a:p>
            <a:r>
              <a:rPr lang="en-US" dirty="0"/>
              <a:t>Enhances communication</a:t>
            </a:r>
          </a:p>
          <a:p>
            <a:r>
              <a:rPr lang="en-US" dirty="0"/>
              <a:t>Encourages learning</a:t>
            </a:r>
          </a:p>
          <a:p>
            <a:r>
              <a:rPr lang="en-US" dirty="0"/>
              <a:t>Builds trust between employees and managers</a:t>
            </a:r>
          </a:p>
          <a:p>
            <a:r>
              <a:rPr lang="en-US" dirty="0"/>
              <a:t>Promotes organizational success</a:t>
            </a:r>
          </a:p>
          <a:p>
            <a:endParaRPr lang="en-US" dirty="0"/>
          </a:p>
        </p:txBody>
      </p:sp>
    </p:spTree>
    <p:extLst>
      <p:ext uri="{BB962C8B-B14F-4D97-AF65-F5344CB8AC3E}">
        <p14:creationId xmlns:p14="http://schemas.microsoft.com/office/powerpoint/2010/main" val="28423199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8360A-4CD6-4646-B6CE-667E148ECEE0}"/>
              </a:ext>
            </a:extLst>
          </p:cNvPr>
          <p:cNvSpPr>
            <a:spLocks noGrp="1"/>
          </p:cNvSpPr>
          <p:nvPr>
            <p:ph type="title"/>
          </p:nvPr>
        </p:nvSpPr>
        <p:spPr/>
        <p:txBody>
          <a:bodyPr/>
          <a:lstStyle/>
          <a:p>
            <a:r>
              <a:rPr lang="en-US" dirty="0"/>
              <a:t>3. Model of Individual Rewards</a:t>
            </a:r>
            <a:br>
              <a:rPr lang="en-US" dirty="0"/>
            </a:br>
            <a:endParaRPr lang="en-US" dirty="0"/>
          </a:p>
        </p:txBody>
      </p:sp>
      <p:sp>
        <p:nvSpPr>
          <p:cNvPr id="3" name="Content Placeholder 2">
            <a:extLst>
              <a:ext uri="{FF2B5EF4-FFF2-40B4-BE49-F238E27FC236}">
                <a16:creationId xmlns:a16="http://schemas.microsoft.com/office/drawing/2014/main" id="{62A1B38B-0892-4AC3-8474-B5C8A912E822}"/>
              </a:ext>
            </a:extLst>
          </p:cNvPr>
          <p:cNvSpPr>
            <a:spLocks noGrp="1"/>
          </p:cNvSpPr>
          <p:nvPr>
            <p:ph idx="1"/>
          </p:nvPr>
        </p:nvSpPr>
        <p:spPr>
          <a:xfrm>
            <a:off x="838200" y="962024"/>
            <a:ext cx="10515600" cy="6029325"/>
          </a:xfrm>
        </p:spPr>
        <p:txBody>
          <a:bodyPr>
            <a:normAutofit/>
          </a:bodyPr>
          <a:lstStyle/>
          <a:p>
            <a:pPr marL="0" indent="0">
              <a:buNone/>
            </a:pPr>
            <a:r>
              <a:rPr lang="en-US" b="1" dirty="0"/>
              <a:t>Meaning of Individual Rewards</a:t>
            </a:r>
          </a:p>
          <a:p>
            <a:r>
              <a:rPr lang="en-US" b="1" dirty="0"/>
              <a:t>Individual rewards</a:t>
            </a:r>
            <a:r>
              <a:rPr lang="en-US" dirty="0"/>
              <a:t> are benefits given to employees based on their individual performance, achievements, and contributions to the organization.</a:t>
            </a:r>
          </a:p>
          <a:p>
            <a:r>
              <a:rPr lang="en-US" dirty="0"/>
              <a:t>These rewards motivate employees to work harder and perform better.</a:t>
            </a:r>
          </a:p>
          <a:p>
            <a:r>
              <a:rPr lang="en-US" b="1" dirty="0"/>
              <a:t>Objectives of Individual Rewards</a:t>
            </a:r>
          </a:p>
          <a:p>
            <a:pPr>
              <a:buFont typeface="+mj-lt"/>
              <a:buAutoNum type="arabicPeriod"/>
            </a:pPr>
            <a:r>
              <a:rPr lang="en-US" b="1" dirty="0"/>
              <a:t>Motivate employees</a:t>
            </a:r>
            <a:endParaRPr lang="en-US" dirty="0"/>
          </a:p>
          <a:p>
            <a:pPr>
              <a:buFont typeface="+mj-lt"/>
              <a:buAutoNum type="arabicPeriod"/>
            </a:pPr>
            <a:r>
              <a:rPr lang="en-US" b="1" dirty="0"/>
              <a:t>Increase productivity</a:t>
            </a:r>
            <a:endParaRPr lang="en-US" dirty="0"/>
          </a:p>
          <a:p>
            <a:pPr>
              <a:buFont typeface="+mj-lt"/>
              <a:buAutoNum type="arabicPeriod"/>
            </a:pPr>
            <a:r>
              <a:rPr lang="en-US" b="1" dirty="0"/>
              <a:t>Recognize achievements</a:t>
            </a:r>
            <a:endParaRPr lang="en-US" dirty="0"/>
          </a:p>
          <a:p>
            <a:pPr>
              <a:buFont typeface="+mj-lt"/>
              <a:buAutoNum type="arabicPeriod"/>
            </a:pPr>
            <a:r>
              <a:rPr lang="en-US" b="1" dirty="0"/>
              <a:t>Encourage high performance</a:t>
            </a:r>
            <a:endParaRPr lang="en-US" dirty="0"/>
          </a:p>
          <a:p>
            <a:pPr>
              <a:buFont typeface="+mj-lt"/>
              <a:buAutoNum type="arabicPeriod"/>
            </a:pPr>
            <a:r>
              <a:rPr lang="en-US" b="1" dirty="0"/>
              <a:t>Retain talented employees</a:t>
            </a:r>
            <a:endParaRPr lang="en-US" dirty="0"/>
          </a:p>
          <a:p>
            <a:endParaRPr lang="en-US" dirty="0"/>
          </a:p>
          <a:p>
            <a:endParaRPr lang="en-US" dirty="0"/>
          </a:p>
        </p:txBody>
      </p:sp>
    </p:spTree>
    <p:extLst>
      <p:ext uri="{BB962C8B-B14F-4D97-AF65-F5344CB8AC3E}">
        <p14:creationId xmlns:p14="http://schemas.microsoft.com/office/powerpoint/2010/main" val="19972786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B08FD8-907A-4A11-A71D-FD0D32A88218}"/>
              </a:ext>
            </a:extLst>
          </p:cNvPr>
          <p:cNvSpPr>
            <a:spLocks noGrp="1"/>
          </p:cNvSpPr>
          <p:nvPr>
            <p:ph type="title"/>
          </p:nvPr>
        </p:nvSpPr>
        <p:spPr/>
        <p:txBody>
          <a:bodyPr/>
          <a:lstStyle/>
          <a:p>
            <a:r>
              <a:rPr lang="en-US" dirty="0"/>
              <a:t>Components of Individual Rewards Model</a:t>
            </a:r>
            <a:br>
              <a:rPr lang="en-US" dirty="0"/>
            </a:br>
            <a:endParaRPr lang="en-US" dirty="0"/>
          </a:p>
        </p:txBody>
      </p:sp>
      <p:sp>
        <p:nvSpPr>
          <p:cNvPr id="3" name="Content Placeholder 2">
            <a:extLst>
              <a:ext uri="{FF2B5EF4-FFF2-40B4-BE49-F238E27FC236}">
                <a16:creationId xmlns:a16="http://schemas.microsoft.com/office/drawing/2014/main" id="{9EDE3DD5-E098-4E9A-83F8-7FDF93987ABC}"/>
              </a:ext>
            </a:extLst>
          </p:cNvPr>
          <p:cNvSpPr>
            <a:spLocks noGrp="1"/>
          </p:cNvSpPr>
          <p:nvPr>
            <p:ph idx="1"/>
          </p:nvPr>
        </p:nvSpPr>
        <p:spPr>
          <a:xfrm>
            <a:off x="838200" y="1066800"/>
            <a:ext cx="10515600" cy="5676900"/>
          </a:xfrm>
        </p:spPr>
        <p:txBody>
          <a:bodyPr>
            <a:normAutofit/>
          </a:bodyPr>
          <a:lstStyle/>
          <a:p>
            <a:pPr marL="0" indent="0">
              <a:buNone/>
            </a:pPr>
            <a:endParaRPr lang="en-US" b="1" dirty="0"/>
          </a:p>
          <a:p>
            <a:r>
              <a:rPr lang="en-US" dirty="0"/>
              <a:t>The </a:t>
            </a:r>
            <a:r>
              <a:rPr lang="en-US" b="1" dirty="0"/>
              <a:t>Individual Rewards Model</a:t>
            </a:r>
            <a:r>
              <a:rPr lang="en-US" dirty="0"/>
              <a:t> explains how employee performance leads to rewards and motivation.</a:t>
            </a:r>
          </a:p>
          <a:p>
            <a:r>
              <a:rPr lang="en-US" b="1" dirty="0"/>
              <a:t>1. Individual Effort</a:t>
            </a:r>
          </a:p>
          <a:p>
            <a:r>
              <a:rPr lang="en-US" dirty="0"/>
              <a:t>Employees invest effort in their work.</a:t>
            </a:r>
          </a:p>
          <a:p>
            <a:r>
              <a:rPr lang="en-US" dirty="0"/>
              <a:t>Examples:</a:t>
            </a:r>
          </a:p>
          <a:p>
            <a:r>
              <a:rPr lang="en-US" dirty="0"/>
              <a:t>working hard</a:t>
            </a:r>
          </a:p>
          <a:p>
            <a:r>
              <a:rPr lang="en-US" dirty="0"/>
              <a:t>learning new skills</a:t>
            </a:r>
          </a:p>
          <a:p>
            <a:r>
              <a:rPr lang="en-US" dirty="0"/>
              <a:t>completing tasks efficiently</a:t>
            </a:r>
          </a:p>
          <a:p>
            <a:endParaRPr lang="en-US" dirty="0"/>
          </a:p>
        </p:txBody>
      </p:sp>
    </p:spTree>
    <p:extLst>
      <p:ext uri="{BB962C8B-B14F-4D97-AF65-F5344CB8AC3E}">
        <p14:creationId xmlns:p14="http://schemas.microsoft.com/office/powerpoint/2010/main" val="28904579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28C20D-5182-46E8-8BE6-AEE8ADBC55AF}"/>
              </a:ext>
            </a:extLst>
          </p:cNvPr>
          <p:cNvSpPr>
            <a:spLocks noGrp="1"/>
          </p:cNvSpPr>
          <p:nvPr>
            <p:ph type="title"/>
          </p:nvPr>
        </p:nvSpPr>
        <p:spPr/>
        <p:txBody>
          <a:bodyPr/>
          <a:lstStyle/>
          <a:p>
            <a:r>
              <a:rPr lang="en-US" dirty="0"/>
              <a:t>2. Individual Performance</a:t>
            </a:r>
            <a:br>
              <a:rPr lang="en-US" dirty="0"/>
            </a:br>
            <a:endParaRPr lang="en-US" dirty="0"/>
          </a:p>
        </p:txBody>
      </p:sp>
      <p:sp>
        <p:nvSpPr>
          <p:cNvPr id="3" name="Content Placeholder 2">
            <a:extLst>
              <a:ext uri="{FF2B5EF4-FFF2-40B4-BE49-F238E27FC236}">
                <a16:creationId xmlns:a16="http://schemas.microsoft.com/office/drawing/2014/main" id="{62C9F33C-7C13-443E-A430-FB29463D5622}"/>
              </a:ext>
            </a:extLst>
          </p:cNvPr>
          <p:cNvSpPr>
            <a:spLocks noGrp="1"/>
          </p:cNvSpPr>
          <p:nvPr>
            <p:ph idx="1"/>
          </p:nvPr>
        </p:nvSpPr>
        <p:spPr>
          <a:xfrm>
            <a:off x="838200" y="1844675"/>
            <a:ext cx="10515600" cy="5232400"/>
          </a:xfrm>
        </p:spPr>
        <p:txBody>
          <a:bodyPr>
            <a:normAutofit fontScale="77500" lnSpcReduction="20000"/>
          </a:bodyPr>
          <a:lstStyle/>
          <a:p>
            <a:r>
              <a:rPr lang="en-US" b="1" dirty="0"/>
              <a:t>2. Individual Performance</a:t>
            </a:r>
          </a:p>
          <a:p>
            <a:r>
              <a:rPr lang="en-US" dirty="0"/>
              <a:t>Effort leads to performance outcomes such as:</a:t>
            </a:r>
          </a:p>
          <a:p>
            <a:r>
              <a:rPr lang="en-US" dirty="0"/>
              <a:t>high productivity</a:t>
            </a:r>
          </a:p>
          <a:p>
            <a:r>
              <a:rPr lang="en-US" dirty="0"/>
              <a:t>quality work</a:t>
            </a:r>
          </a:p>
          <a:p>
            <a:r>
              <a:rPr lang="en-US" dirty="0"/>
              <a:t>goal achievement</a:t>
            </a:r>
          </a:p>
          <a:p>
            <a:r>
              <a:rPr lang="en-US" dirty="0"/>
              <a:t>↓</a:t>
            </a:r>
          </a:p>
          <a:p>
            <a:r>
              <a:rPr lang="en-US" b="1" dirty="0"/>
              <a:t>3. Performance Evaluation</a:t>
            </a:r>
          </a:p>
          <a:p>
            <a:r>
              <a:rPr lang="en-US" dirty="0"/>
              <a:t>Managers assess employee performance through appraisal systems.</a:t>
            </a:r>
          </a:p>
          <a:p>
            <a:r>
              <a:rPr lang="en-US" dirty="0"/>
              <a:t>↓</a:t>
            </a:r>
          </a:p>
          <a:p>
            <a:r>
              <a:rPr lang="en-US" b="1" dirty="0"/>
              <a:t>4. Reward Allocation</a:t>
            </a:r>
          </a:p>
          <a:p>
            <a:r>
              <a:rPr lang="en-US" dirty="0"/>
              <a:t>Based on performance, employees receive rewards.</a:t>
            </a:r>
          </a:p>
          <a:p>
            <a:r>
              <a:rPr lang="en-US" dirty="0"/>
              <a:t>↓</a:t>
            </a:r>
          </a:p>
          <a:p>
            <a:r>
              <a:rPr lang="en-US" b="1" dirty="0"/>
              <a:t>5. Employee Satisfaction and Motivation</a:t>
            </a:r>
          </a:p>
          <a:p>
            <a:r>
              <a:rPr lang="en-US" dirty="0"/>
              <a:t>Rewards increase employee satisfaction and motivate future performance.</a:t>
            </a:r>
          </a:p>
          <a:p>
            <a:endParaRPr lang="en-US" dirty="0"/>
          </a:p>
        </p:txBody>
      </p:sp>
    </p:spTree>
    <p:extLst>
      <p:ext uri="{BB962C8B-B14F-4D97-AF65-F5344CB8AC3E}">
        <p14:creationId xmlns:p14="http://schemas.microsoft.com/office/powerpoint/2010/main" val="35016608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TotalTime>
  <Words>635</Words>
  <Application>Microsoft Office PowerPoint</Application>
  <PresentationFormat>Widescreen</PresentationFormat>
  <Paragraphs>138</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Calibri Light</vt:lpstr>
      <vt:lpstr>Office Theme</vt:lpstr>
      <vt:lpstr>Lecture </vt:lpstr>
      <vt:lpstr>Evaluation of Performance Meaning of Performance </vt:lpstr>
      <vt:lpstr>Objectives of Performance Evaluation </vt:lpstr>
      <vt:lpstr>Importance of Performance Evaluation </vt:lpstr>
      <vt:lpstr>Methods </vt:lpstr>
      <vt:lpstr>Problems in Performance Evaluation </vt:lpstr>
      <vt:lpstr>2. Performance Evaluation Feedback </vt:lpstr>
      <vt:lpstr>Objectives of Performance Feedback </vt:lpstr>
      <vt:lpstr>Characteristics of Effective Feedback </vt:lpstr>
      <vt:lpstr>3. Constructive </vt:lpstr>
      <vt:lpstr>Types of Performance Feedback </vt:lpstr>
      <vt:lpstr>Steps in Giving Performance Feedback </vt:lpstr>
      <vt:lpstr>Benefits of Performance Feedback </vt:lpstr>
      <vt:lpstr>3. Model of Individual Rewards </vt:lpstr>
      <vt:lpstr>Components of Individual Rewards Model </vt:lpstr>
      <vt:lpstr>2. Individual Performance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Ms Sadaf Saqlain</dc:creator>
  <cp:lastModifiedBy>Ms Sadaf Saqlain</cp:lastModifiedBy>
  <cp:revision>3</cp:revision>
  <dcterms:created xsi:type="dcterms:W3CDTF">2026-03-17T05:40:08Z</dcterms:created>
  <dcterms:modified xsi:type="dcterms:W3CDTF">2026-03-17T05:59:09Z</dcterms:modified>
</cp:coreProperties>
</file>